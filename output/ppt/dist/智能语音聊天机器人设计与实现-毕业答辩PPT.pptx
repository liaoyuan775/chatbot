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HUT_MASTER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3A66"/>
          </a:solidFill>
          <a:ln w="12700">
            <a:solidFill>
              <a:srgbClr val="0E3A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3A66"/>
          </a:solidFill>
          <a:ln w="12700">
            <a:solidFill>
              <a:srgbClr val="0E3A66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AgentLearning\chatBot\output\ppt\assets\cover-hero-ai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577840" cy="6858000"/>
          </a:xfrm>
          <a:prstGeom prst="rect">
            <a:avLst/>
          </a:prstGeom>
          <a:solidFill>
            <a:srgbClr val="071B33">
              <a:alpha val="78000"/>
            </a:srgbClr>
          </a:solidFill>
          <a:ln w="12700">
            <a:solidFill>
              <a:srgbClr val="071B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40080" y="10515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智能语音聊天机器人设计与实现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58368" y="199339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E7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React、FastAPI 与检索增强生成的多模态语音对话系统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58368" y="2560320"/>
            <a:ext cx="1554480" cy="0"/>
          </a:xfrm>
          <a:prstGeom prst="line">
            <a:avLst/>
          </a:prstGeom>
          <a:noFill/>
          <a:ln w="12700">
            <a:solidFill>
              <a:srgbClr val="4CC9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2880360"/>
            <a:ext cx="3383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专业：计算机科学与技术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班级：计225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姓名：廖园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学号：229074182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指导教师：王朋飞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答辩日期：2026年5月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13232" y="61722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D9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安徽工业大学毕业设计答辩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3A66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研究背景与课题意义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859536"/>
            <a:ext cx="7223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从研究现状、现有不足和课题价值三方面说明选题依据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152144"/>
            <a:ext cx="1371600" cy="0"/>
          </a:xfrm>
          <a:prstGeom prst="line">
            <a:avLst/>
          </a:prstGeom>
          <a:noFill/>
          <a:ln w="12700">
            <a:solidFill>
              <a:srgbClr val="31B6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325880"/>
            <a:ext cx="1353312" cy="310896"/>
          </a:xfrm>
          <a:prstGeom prst="roundRect">
            <a:avLst>
              <a:gd name="adj" fmla="val 23529"/>
            </a:avLst>
          </a:prstGeom>
          <a:solidFill>
            <a:srgbClr val="EAF2FA"/>
          </a:solidFill>
          <a:ln w="12700">
            <a:solidFill>
              <a:srgbClr val="EAF2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53312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6F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背景现状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77240" y="1783080"/>
            <a:ext cx="5532120" cy="2011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94310" indent="-19431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大语言模型、语音识别与语音合成快速发展，语音交互系统正从单轮问答走向连续对话。</a:t>
            </a:r>
            <a:endParaRPr lang="en-US" sz="1700" dirty="0"/>
          </a:p>
          <a:p>
            <a:pPr marL="194310" indent="-19431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面向教育陪练、智能助手等场景，系统不仅要会回答，还要具备低时延、可打断和上下文连续能力。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31520" y="3822192"/>
            <a:ext cx="1353312" cy="310896"/>
          </a:xfrm>
          <a:prstGeom prst="roundRect">
            <a:avLst>
              <a:gd name="adj" fmla="val 23529"/>
            </a:avLst>
          </a:prstGeom>
          <a:solidFill>
            <a:srgbClr val="EAF2FA"/>
          </a:solidFill>
          <a:ln w="12700">
            <a:solidFill>
              <a:srgbClr val="EAF2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849624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6F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现有不足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77240" y="4251960"/>
            <a:ext cx="553212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88595" indent="-188595">
              <a:buSzPct val="100000"/>
              <a:buChar char="•"/>
            </a:pPr>
            <a:r>
              <a:rPr lang="en-US" sz="16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现有系统往往将文本、语音输入和实时通话割裂实现，状态同步与链路切换成本较高。</a:t>
            </a:r>
            <a:endParaRPr lang="en-US" sz="1650" dirty="0"/>
          </a:p>
          <a:p>
            <a:pPr marL="188595" indent="-188595">
              <a:buSzPct val="100000"/>
              <a:buChar char="•"/>
            </a:pPr>
            <a:r>
              <a:rPr lang="en-US" sz="16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通用模型缺少私有知识支撑，面对项目资料型问题时回答容易停留在泛化表述。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6720840" y="1627632"/>
            <a:ext cx="4617720" cy="1051560"/>
          </a:xfrm>
          <a:prstGeom prst="roundRect">
            <a:avLst>
              <a:gd name="adj" fmla="val 6957"/>
            </a:avLst>
          </a:prstGeom>
          <a:solidFill>
            <a:srgbClr val="F9FCFF"/>
          </a:solidFill>
          <a:ln w="12700">
            <a:solidFill>
              <a:srgbClr val="D7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6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85432" y="1737360"/>
            <a:ext cx="4288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A66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交互层不足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85432" y="2011680"/>
            <a:ext cx="428853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语音体验不连续，打断响应和交互节奏仍不理想。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720840" y="2761488"/>
            <a:ext cx="4617720" cy="1051560"/>
          </a:xfrm>
          <a:prstGeom prst="roundRect">
            <a:avLst>
              <a:gd name="adj" fmla="val 6957"/>
            </a:avLst>
          </a:prstGeom>
          <a:solidFill>
            <a:srgbClr val="F9FCFF"/>
          </a:solidFill>
          <a:ln w="12700">
            <a:solidFill>
              <a:srgbClr val="D7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6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85432" y="2871216"/>
            <a:ext cx="4288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A66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知识层不足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85432" y="3145536"/>
            <a:ext cx="428853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缺少私有资料支撑，资料型问答的针对性和可靠性不足。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720840" y="3895344"/>
            <a:ext cx="4617720" cy="1051560"/>
          </a:xfrm>
          <a:prstGeom prst="roundRect">
            <a:avLst>
              <a:gd name="adj" fmla="val 6957"/>
            </a:avLst>
          </a:prstGeom>
          <a:solidFill>
            <a:srgbClr val="F9FCFF"/>
          </a:solidFill>
          <a:ln w="12700">
            <a:solidFill>
              <a:srgbClr val="D7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6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85432" y="4005072"/>
            <a:ext cx="4288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A66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工程层不足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85432" y="4279392"/>
            <a:ext cx="428853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链路与配置缺少统一组织，维护、替换与扩展成本较高。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720840" y="5029200"/>
            <a:ext cx="4617720" cy="868680"/>
          </a:xfrm>
          <a:prstGeom prst="roundRect">
            <a:avLst>
              <a:gd name="adj" fmla="val 8421"/>
            </a:avLst>
          </a:prstGeom>
          <a:solidFill>
            <a:srgbClr val="FFF8E8"/>
          </a:solidFill>
          <a:ln w="12700">
            <a:solidFill>
              <a:srgbClr val="D7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6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885432" y="5138928"/>
            <a:ext cx="4288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A66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本课题意义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85432" y="5413248"/>
            <a:ext cx="42885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围绕统一运行时构建多模态语音对话系统，为论文研究与工程落地提供可验证样本。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20040" y="656539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安徽工业大学 | 研究背景与课题意义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3A66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研究目标与论文工作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859536"/>
            <a:ext cx="7223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系统目标不是单一功能验证，而是形成完整工程闭环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152144"/>
            <a:ext cx="1371600" cy="0"/>
          </a:xfrm>
          <a:prstGeom prst="line">
            <a:avLst/>
          </a:prstGeom>
          <a:noFill/>
          <a:ln w="12700">
            <a:solidFill>
              <a:srgbClr val="31B6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17320"/>
            <a:ext cx="10698480" cy="713232"/>
          </a:xfrm>
          <a:prstGeom prst="roundRect">
            <a:avLst>
              <a:gd name="adj" fmla="val 10256"/>
            </a:avLst>
          </a:prstGeom>
          <a:solidFill>
            <a:srgbClr val="EAF4FF"/>
          </a:solidFill>
          <a:ln w="12700">
            <a:solidFill>
              <a:srgbClr val="B9D6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27632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3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设计并实现一个支持文本、语音输入、实时语音通话和知识增强的智能语音聊天机器人系统。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2560320"/>
            <a:ext cx="47548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6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87552" y="2670048"/>
            <a:ext cx="4425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A66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需求分析与数据库设计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87552" y="2944368"/>
            <a:ext cx="442569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梳理功能需求、非功能需求和核心数据结构。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17920" y="2560320"/>
            <a:ext cx="47548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6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82512" y="2670048"/>
            <a:ext cx="4425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A66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统一会话运行时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82512" y="2944368"/>
            <a:ext cx="442569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统一组织文本对话、语音输入和实时通话。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22960" y="3931920"/>
            <a:ext cx="47548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6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87552" y="4041648"/>
            <a:ext cx="4425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A66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双语音链路实现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87552" y="4315968"/>
            <a:ext cx="442569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实现分阶段链路和一体化实时链路两种策略。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17920" y="3931920"/>
            <a:ext cx="47548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6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82512" y="4041648"/>
            <a:ext cx="4425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A66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知识与个性化能力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82512" y="4315968"/>
            <a:ext cx="442569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接入RAG、记忆管理、人格配置与音色管理。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520440" y="5303520"/>
            <a:ext cx="51206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6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85032" y="5413248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A66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论文验证与结果分析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85032" y="5687568"/>
            <a:ext cx="479145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通过真实页面、测试用例与链路结果分析系统效果。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20040" y="656539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安徽工业大学 | 研究目标与论文工作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3A66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系统总体架构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859536"/>
            <a:ext cx="7223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整场答辩的总览：前端、后端、数据与外部服务协同工作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152144"/>
            <a:ext cx="1371600" cy="0"/>
          </a:xfrm>
          <a:prstGeom prst="line">
            <a:avLst/>
          </a:prstGeom>
          <a:noFill/>
          <a:ln w="12700">
            <a:solidFill>
              <a:srgbClr val="31B6D6"/>
            </a:solidFill>
            <a:prstDash val="solid"/>
          </a:ln>
        </p:spPr>
      </p:sp>
      <p:pic>
        <p:nvPicPr>
          <p:cNvPr id="5" name="Image 0" descr="D:\AgentLearning\chatBot\output\ppt\assets\system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638818"/>
            <a:ext cx="8183880" cy="22661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5961888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系统总体架构图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8823960" y="1627632"/>
            <a:ext cx="27432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7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6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988552" y="1737360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A66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前端交互层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988552" y="2011680"/>
            <a:ext cx="24140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负责聊天交互、语音输入、实时通话和状态呈现。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8823960" y="2880360"/>
            <a:ext cx="27432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7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6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988552" y="2990088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A66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后端编排层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988552" y="3264408"/>
            <a:ext cx="24140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统一暴露接口并组织知识检索、模型调用与链路执行。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823960" y="4133088"/>
            <a:ext cx="27432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7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6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988552" y="4242816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A66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数据与服务层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988552" y="4517136"/>
            <a:ext cx="24140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负责会话存储、向量检索以及外部模型与语音服务接入。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320040" y="656539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安徽工业大学 | 系统总体架构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3A66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核心功能模块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859536"/>
            <a:ext cx="7223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功能设计围绕用户侧交互能力与系统侧配置能力展开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152144"/>
            <a:ext cx="1371600" cy="0"/>
          </a:xfrm>
          <a:prstGeom prst="line">
            <a:avLst/>
          </a:prstGeom>
          <a:noFill/>
          <a:ln w="12700">
            <a:solidFill>
              <a:srgbClr val="31B6D6"/>
            </a:solidFill>
            <a:prstDash val="solid"/>
          </a:ln>
        </p:spPr>
      </p:sp>
      <p:pic>
        <p:nvPicPr>
          <p:cNvPr id="5" name="Image 0" descr="D:\AgentLearning\chatBot\output\ppt\assets\system_function_modu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573973"/>
            <a:ext cx="6949440" cy="435013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5943600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系统功能模块图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7635240" y="164592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F9FCFF"/>
          </a:solidFill>
          <a:ln w="12700">
            <a:solidFill>
              <a:srgbClr val="D7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6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799832" y="1755648"/>
            <a:ext cx="3419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A66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用户侧能力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99832" y="2029968"/>
            <a:ext cx="3419856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文本对话、语音输入、实时通话和知识问答，面向实际交互场景提供连续体验。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635240" y="370332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F9FCFF"/>
          </a:solidFill>
          <a:ln w="12700">
            <a:solidFill>
              <a:srgbClr val="D7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6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799832" y="3813048"/>
            <a:ext cx="3419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A66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系统侧能力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799832" y="4087368"/>
            <a:ext cx="3419856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Provider、链路、人格、音色、知识库与系统设置共同支撑系统可维护性。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20040" y="656539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安徽工业大学 | 核心功能模块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3A66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关键设计一：统一会话运行时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859536"/>
            <a:ext cx="7223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将文本对话、语音输入和实时通话纳入同一运行时模型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152144"/>
            <a:ext cx="1371600" cy="0"/>
          </a:xfrm>
          <a:prstGeom prst="line">
            <a:avLst/>
          </a:prstGeom>
          <a:noFill/>
          <a:ln w="12700">
            <a:solidFill>
              <a:srgbClr val="31B6D6"/>
            </a:solidFill>
            <a:prstDash val="solid"/>
          </a:ln>
        </p:spPr>
      </p:sp>
      <p:pic>
        <p:nvPicPr>
          <p:cNvPr id="5" name="Image 0" descr="D:\AgentLearning\chatBot\output\ppt\assets\runtime-concept-a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2099483"/>
            <a:ext cx="5212080" cy="293335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7240" y="1325880"/>
            <a:ext cx="1353312" cy="310896"/>
          </a:xfrm>
          <a:prstGeom prst="roundRect">
            <a:avLst>
              <a:gd name="adj" fmla="val 23529"/>
            </a:avLst>
          </a:prstGeom>
          <a:solidFill>
            <a:srgbClr val="EAF2FA"/>
          </a:solidFill>
          <a:ln w="12700">
            <a:solidFill>
              <a:srgbClr val="EAF2F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1353312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6F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核心思想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822960" y="1783080"/>
            <a:ext cx="5074920" cy="3017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94310" indent="-19431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统一状态：集中管理会话标识、运行状态、转写文本和消息流。</a:t>
            </a:r>
            <a:endParaRPr lang="en-US" sz="1700" dirty="0"/>
          </a:p>
          <a:p>
            <a:pPr marL="194310" indent="-19431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统一事件：以一致的事件模型驱动页面更新，减少多链路并行时的状态分散问题。</a:t>
            </a:r>
            <a:endParaRPr lang="en-US" sz="1700" dirty="0"/>
          </a:p>
          <a:p>
            <a:pPr marL="194310" indent="-19431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统一扩展入口：把文本、语音输入和实时通话抽象成统一接口，便于切换、替换与扩展。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841248" y="5257800"/>
            <a:ext cx="13258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7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6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005840" y="5367528"/>
            <a:ext cx="996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A66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状态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05840" y="5641848"/>
            <a:ext cx="996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待机、监听、思考、播报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267712" y="5257800"/>
            <a:ext cx="13258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7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6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2432304" y="5367528"/>
            <a:ext cx="996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A66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消息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2432304" y="5641848"/>
            <a:ext cx="996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会话流与转写文本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694176" y="5257800"/>
            <a:ext cx="13258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7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6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3858768" y="5367528"/>
            <a:ext cx="996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A66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指标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858768" y="5641848"/>
            <a:ext cx="996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首字延迟、总耗时等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120640" y="5257800"/>
            <a:ext cx="13258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7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6">
                <a:alpha val="1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5285232" y="5367528"/>
            <a:ext cx="996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A66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事件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285232" y="5641848"/>
            <a:ext cx="996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统一分发与订阅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320040" y="656539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安徽工业大学 | 统一会话运行时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3A66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关键设计二：双语音链路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859536"/>
            <a:ext cx="7223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保留两条语音链路，是为了兼顾实时体验与工程可控性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152144"/>
            <a:ext cx="1371600" cy="0"/>
          </a:xfrm>
          <a:prstGeom prst="line">
            <a:avLst/>
          </a:prstGeom>
          <a:noFill/>
          <a:ln w="12700">
            <a:solidFill>
              <a:srgbClr val="31B6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481328"/>
            <a:ext cx="5212080" cy="1572768"/>
          </a:xfrm>
          <a:prstGeom prst="roundRect">
            <a:avLst>
              <a:gd name="adj" fmla="val 4651"/>
            </a:avLst>
          </a:prstGeom>
          <a:solidFill>
            <a:srgbClr val="F9FCFF"/>
          </a:solidFill>
          <a:ln w="12700">
            <a:solidFill>
              <a:srgbClr val="D7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6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77824" y="1591056"/>
            <a:ext cx="4882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A66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分阶段语音链路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77824" y="1865376"/>
            <a:ext cx="48828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适用场景：调试、实验分析与链路替换。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优势：模块边界清晰，便于定位问题与独立替换。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局限：交互节奏相对更慢。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72784" y="1481328"/>
            <a:ext cx="5212080" cy="1572768"/>
          </a:xfrm>
          <a:prstGeom prst="roundRect">
            <a:avLst>
              <a:gd name="adj" fmla="val 4651"/>
            </a:avLst>
          </a:prstGeom>
          <a:solidFill>
            <a:srgbClr val="F9FCFF"/>
          </a:solidFill>
          <a:ln w="12700">
            <a:solidFill>
              <a:srgbClr val="D7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6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37376" y="1591056"/>
            <a:ext cx="4882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A66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一体化实时语音链路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37376" y="1865376"/>
            <a:ext cx="48828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适用场景：连续通话与实时交互。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优势：时延更低，可插话、可打断，体验更自然。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局限：对网络环境和服务协同要求更高。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22960" y="3273552"/>
            <a:ext cx="10881360" cy="493776"/>
          </a:xfrm>
          <a:prstGeom prst="roundRect">
            <a:avLst>
              <a:gd name="adj" fmla="val 11111"/>
            </a:avLst>
          </a:prstGeom>
          <a:solidFill>
            <a:srgbClr val="FFF8E8"/>
          </a:solidFill>
          <a:ln w="12700">
            <a:solidFill>
              <a:srgbClr val="F2D7A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4128" y="3410712"/>
            <a:ext cx="10424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3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设计结论：两条语音链路分别面向不同场景，前者强调可控性，后者强调实时性，可按业务目标灵活切换。</a:t>
            </a:r>
            <a:endParaRPr lang="en-US" sz="1200" dirty="0"/>
          </a:p>
        </p:txBody>
      </p:sp>
      <p:pic>
        <p:nvPicPr>
          <p:cNvPr id="13" name="Image 0" descr="D:\AgentLearning\chatBot\output\ppt\assets\voice_interaction_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4610924"/>
            <a:ext cx="5257800" cy="671961"/>
          </a:xfrm>
          <a:prstGeom prst="rect">
            <a:avLst/>
          </a:prstGeom>
        </p:spPr>
      </p:pic>
      <p:pic>
        <p:nvPicPr>
          <p:cNvPr id="14" name="Image 1" descr="D:\AgentLearning\chatBot\output\ppt\assets\realtime_seque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3" y="3950208"/>
            <a:ext cx="2417437" cy="199339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78992" y="601675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分阶段语音交互流程图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6565392" y="601675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实时语音通话时序图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320040" y="656539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安徽工业大学 | 双语音链路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3A66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关键设计三：RAG知识增强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859536"/>
            <a:ext cx="7223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RAG：检索增强生成，用于提升资料型问答的针对性与可靠性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152144"/>
            <a:ext cx="1371600" cy="0"/>
          </a:xfrm>
          <a:prstGeom prst="line">
            <a:avLst/>
          </a:prstGeom>
          <a:noFill/>
          <a:ln w="12700">
            <a:solidFill>
              <a:srgbClr val="31B6D6"/>
            </a:solidFill>
            <a:prstDash val="solid"/>
          </a:ln>
        </p:spPr>
      </p:sp>
      <p:pic>
        <p:nvPicPr>
          <p:cNvPr id="5" name="Image 0" descr="D:\AgentLearning\chatBot\output\ppt\assets\fig4-4-rag-work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2462282"/>
            <a:ext cx="5486400" cy="239063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7240" y="1353312"/>
            <a:ext cx="1353312" cy="310896"/>
          </a:xfrm>
          <a:prstGeom prst="roundRect">
            <a:avLst>
              <a:gd name="adj" fmla="val 23529"/>
            </a:avLst>
          </a:prstGeom>
          <a:solidFill>
            <a:srgbClr val="EAF2FA"/>
          </a:solidFill>
          <a:ln w="12700">
            <a:solidFill>
              <a:srgbClr val="EAF2F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1380744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6F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方法流程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822960" y="1783080"/>
            <a:ext cx="46634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7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6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987552" y="1892808"/>
            <a:ext cx="4334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A66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步骤1 问题输入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87552" y="2167128"/>
            <a:ext cx="4334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系统接收文本问题或由语音识别转写后的问题。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22960" y="2633472"/>
            <a:ext cx="46634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7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6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987552" y="2743200"/>
            <a:ext cx="4334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A66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步骤2 检索门控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987552" y="3017520"/>
            <a:ext cx="4334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先判断是否需要知识增强，避免每轮都无差别触发检索。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22960" y="3483864"/>
            <a:ext cx="46634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7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6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987552" y="3593592"/>
            <a:ext cx="4334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A66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步骤3 召回与重排序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987552" y="3867912"/>
            <a:ext cx="4334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从知识库切片中筛选相关内容，构造高质量知识上下文。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822960" y="4334256"/>
            <a:ext cx="46634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7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6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987552" y="4443984"/>
            <a:ext cx="4334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A66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步骤4 上下文注入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987552" y="4718304"/>
            <a:ext cx="4334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把知识片段与会话历史共同注入模型，生成更贴近资料的回答。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822960" y="5230368"/>
            <a:ext cx="4663440" cy="621792"/>
          </a:xfrm>
          <a:prstGeom prst="roundRect">
            <a:avLst>
              <a:gd name="adj" fmla="val 11765"/>
            </a:avLst>
          </a:prstGeom>
          <a:solidFill>
            <a:srgbClr val="FFF8E8"/>
          </a:solidFill>
          <a:ln w="12700">
            <a:solidFill>
              <a:srgbClr val="D7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6">
                <a:alpha val="1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987552" y="5340096"/>
            <a:ext cx="4334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A66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作用结论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987552" y="5614416"/>
            <a:ext cx="4334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该方法主要用于提升资料型问答的针对性与可靠性。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320040" y="656539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安徽工业大学 | RAG知识增强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3A66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数据库与数据设计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859536"/>
            <a:ext cx="7223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数据库设计围绕会话、配置、知识和审计四类数据展开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152144"/>
            <a:ext cx="1371600" cy="0"/>
          </a:xfrm>
          <a:prstGeom prst="line">
            <a:avLst/>
          </a:prstGeom>
          <a:noFill/>
          <a:ln w="12700">
            <a:solidFill>
              <a:srgbClr val="31B6D6"/>
            </a:solidFill>
            <a:prstDash val="solid"/>
          </a:ln>
        </p:spPr>
      </p:sp>
      <p:pic>
        <p:nvPicPr>
          <p:cNvPr id="5" name="Image 0" descr="D:\AgentLearning\chatBot\output\ppt\assets\database_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15206"/>
            <a:ext cx="7955280" cy="458770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11680" y="629107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 E-R 图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8595360" y="1554480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7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6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759952" y="1664208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A66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会话与消息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759952" y="1938528"/>
            <a:ext cx="24140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保存会话标题、消息内容、消息类型与交互历史。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8595360" y="2697480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7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6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759952" y="2807208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A66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上下文记忆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759952" y="3081528"/>
            <a:ext cx="24140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维护短期记忆、中期摘要和长期向量记忆。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595360" y="3840480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7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6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759952" y="3950208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A66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Provider 与模型目录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759952" y="4224528"/>
            <a:ext cx="24140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统一记录模型服务地址、模型清单和可用状态。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595360" y="4983480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7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6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8759952" y="5093208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A66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知识与审计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759952" y="5367528"/>
            <a:ext cx="24140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保存知识库、文档切片、向量内容与链路审计记录。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320040" y="656539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安徽工业大学 | 数据库与数据设计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3A66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系统实现与界面展示（一）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859536"/>
            <a:ext cx="7223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将原来过于密集的四图拼页拆开，优先保证投屏可读性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152144"/>
            <a:ext cx="1371600" cy="0"/>
          </a:xfrm>
          <a:prstGeom prst="line">
            <a:avLst/>
          </a:prstGeom>
          <a:noFill/>
          <a:ln w="12700">
            <a:solidFill>
              <a:srgbClr val="31B6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417320"/>
            <a:ext cx="534924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D7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6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545336"/>
            <a:ext cx="5020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3A66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聊天中心页面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801368"/>
            <a:ext cx="5020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负责主对话、运行状态切换和实时语音交互展示。</a:t>
            </a:r>
            <a:endParaRPr lang="en-US" sz="1050" dirty="0"/>
          </a:p>
        </p:txBody>
      </p:sp>
      <p:pic>
        <p:nvPicPr>
          <p:cNvPr id="8" name="Image 0" descr="D:\AgentLearning\chatBot\output\ppt\assets\fig5-2-ch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552033"/>
            <a:ext cx="5020056" cy="282378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108192" y="1417320"/>
            <a:ext cx="534924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D7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6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272784" y="1545336"/>
            <a:ext cx="5020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3A66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厂商与模型管理页面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272784" y="1801368"/>
            <a:ext cx="5020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负责 Provider 配置、连通性测试和模型目录维护。</a:t>
            </a:r>
            <a:endParaRPr lang="en-US" sz="1050" dirty="0"/>
          </a:p>
        </p:txBody>
      </p:sp>
      <p:pic>
        <p:nvPicPr>
          <p:cNvPr id="12" name="Image 1" descr="D:\AgentLearning\chatBot\output\ppt\assets\fig5-5-provid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2784" y="2981232"/>
            <a:ext cx="5020056" cy="196538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1051560" y="6144768"/>
            <a:ext cx="10104120" cy="384048"/>
          </a:xfrm>
          <a:prstGeom prst="roundRect">
            <a:avLst>
              <a:gd name="adj" fmla="val 11905"/>
            </a:avLst>
          </a:prstGeom>
          <a:solidFill>
            <a:srgbClr val="FFF8E8"/>
          </a:solidFill>
          <a:ln w="12700">
            <a:solidFill>
              <a:srgbClr val="F2D7A2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234440" y="6254496"/>
            <a:ext cx="9738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3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这两个页面对应系统的主要交互入口和模型服务管理入口，适合在答辩中直接展示真实实现效果。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20040" y="656539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安徽工业大学 | 系统实现与界面展示（一）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3A66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系统实现与界面展示（二）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859536"/>
            <a:ext cx="7223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继续展示知识库与音色等更具代表性的功能页面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152144"/>
            <a:ext cx="1371600" cy="0"/>
          </a:xfrm>
          <a:prstGeom prst="line">
            <a:avLst/>
          </a:prstGeom>
          <a:noFill/>
          <a:ln w="12700">
            <a:solidFill>
              <a:srgbClr val="31B6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417320"/>
            <a:ext cx="534924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D7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6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545336"/>
            <a:ext cx="5020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3A66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知识库管理页面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801368"/>
            <a:ext cx="5020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负责文档上传、切片解析、检索测试和参数维护。</a:t>
            </a:r>
            <a:endParaRPr lang="en-US" sz="1050" dirty="0"/>
          </a:p>
        </p:txBody>
      </p:sp>
      <p:pic>
        <p:nvPicPr>
          <p:cNvPr id="8" name="Image 0" descr="D:\AgentLearning\chatBot\output\ppt\assets\fig5-6-knowle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2330" y="2148840"/>
            <a:ext cx="4224195" cy="363016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108192" y="1417320"/>
            <a:ext cx="534924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D7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6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272784" y="1545336"/>
            <a:ext cx="5020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3A66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音色管理页面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272784" y="1801368"/>
            <a:ext cx="5020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负责音色列表、样本上传、试听和音色克隆。</a:t>
            </a:r>
            <a:endParaRPr lang="en-US" sz="1050" dirty="0"/>
          </a:p>
        </p:txBody>
      </p:sp>
      <p:pic>
        <p:nvPicPr>
          <p:cNvPr id="12" name="Image 1" descr="D:\AgentLearning\chatBot\output\ppt\assets\fig5-8-voi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2784" y="3022664"/>
            <a:ext cx="5020056" cy="1882521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1051560" y="6144768"/>
            <a:ext cx="10104120" cy="384048"/>
          </a:xfrm>
          <a:prstGeom prst="roundRect">
            <a:avLst>
              <a:gd name="adj" fmla="val 11905"/>
            </a:avLst>
          </a:prstGeom>
          <a:solidFill>
            <a:srgbClr val="EEF8F8"/>
          </a:solidFill>
          <a:ln w="12700">
            <a:solidFill>
              <a:srgbClr val="B9E3DE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234440" y="6254496"/>
            <a:ext cx="9738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3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这两个页面说明系统不仅关注对话过程，还把私有资料处理与个性化语音能力纳入同一平台。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20040" y="656539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安徽工业大学 | 系统实现与界面展示（二）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3A66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系统测试与结果分析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859536"/>
            <a:ext cx="7223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将核心测试结果整理为更适合投屏阅读的表格与结论卡片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152144"/>
            <a:ext cx="1371600" cy="0"/>
          </a:xfrm>
          <a:prstGeom prst="line">
            <a:avLst/>
          </a:prstGeom>
          <a:noFill/>
          <a:ln w="12700">
            <a:solidFill>
              <a:srgbClr val="31B6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536192"/>
            <a:ext cx="2331720" cy="676656"/>
          </a:xfrm>
          <a:prstGeom prst="rect">
            <a:avLst/>
          </a:prstGeom>
          <a:solidFill>
            <a:srgbClr val="0E3A66"/>
          </a:solidFill>
          <a:ln w="12700">
            <a:solidFill>
              <a:srgbClr val="C8D7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609344"/>
            <a:ext cx="21854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测试项目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1536192"/>
            <a:ext cx="6355080" cy="676656"/>
          </a:xfrm>
          <a:prstGeom prst="rect">
            <a:avLst/>
          </a:prstGeom>
          <a:solidFill>
            <a:srgbClr val="0E3A66"/>
          </a:solidFill>
          <a:ln w="12700">
            <a:solidFill>
              <a:srgbClr val="C8D7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73552" y="1609344"/>
            <a:ext cx="62087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观察结果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646920" y="1536192"/>
            <a:ext cx="1554480" cy="676656"/>
          </a:xfrm>
          <a:prstGeom prst="rect">
            <a:avLst/>
          </a:prstGeom>
          <a:solidFill>
            <a:srgbClr val="0E3A66"/>
          </a:solidFill>
          <a:ln w="12700">
            <a:solidFill>
              <a:srgbClr val="C8D7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20072" y="1609344"/>
            <a:ext cx="14081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13232" y="2212848"/>
            <a:ext cx="233172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7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" y="2286000"/>
            <a:ext cx="21854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文本对话功能测试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00400" y="2212848"/>
            <a:ext cx="63550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7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73552" y="2286000"/>
            <a:ext cx="62087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会话创建、消息保存和回复生成链路可稳定完成。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646920" y="2212848"/>
            <a:ext cx="15544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7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20072" y="2286000"/>
            <a:ext cx="14081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13232" y="2889504"/>
            <a:ext cx="233172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7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" y="2962656"/>
            <a:ext cx="21854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实时通话链路测试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200400" y="2889504"/>
            <a:ext cx="63550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7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73552" y="2962656"/>
            <a:ext cx="62087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支持持续传输、局部转写、语音播报和插话打断。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646920" y="2889504"/>
            <a:ext cx="15544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7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20072" y="2962656"/>
            <a:ext cx="14081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13232" y="3566160"/>
            <a:ext cx="233172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7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6384" y="3639312"/>
            <a:ext cx="21854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知识库开启/关闭对比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200400" y="3566160"/>
            <a:ext cx="63550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7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73552" y="3639312"/>
            <a:ext cx="62087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资料型问答在开启知识库后更具体，也更贴近文档内容。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9646920" y="3566160"/>
            <a:ext cx="15544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7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720072" y="3639312"/>
            <a:ext cx="14081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13232" y="4242816"/>
            <a:ext cx="233172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7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6384" y="4315968"/>
            <a:ext cx="21854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音色样本上传与异常处理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200400" y="4242816"/>
            <a:ext cx="63550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7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73552" y="4315968"/>
            <a:ext cx="62087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成功路径与错误路径均能给出明确反馈。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9646920" y="4242816"/>
            <a:ext cx="15544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7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720072" y="4315968"/>
            <a:ext cx="14081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749808" y="5102352"/>
            <a:ext cx="3520440" cy="914400"/>
          </a:xfrm>
          <a:prstGeom prst="roundRect">
            <a:avLst>
              <a:gd name="adj" fmla="val 8000"/>
            </a:avLst>
          </a:prstGeom>
          <a:solidFill>
            <a:srgbClr val="F9FCFF"/>
          </a:solidFill>
          <a:ln w="12700">
            <a:solidFill>
              <a:srgbClr val="D7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6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914400" y="5212080"/>
            <a:ext cx="3191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A66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结论1 功能闭环验证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14400" y="5486400"/>
            <a:ext cx="31912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系统核心功能已完成闭环验证，主要设计内容能够落地实现。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370832" y="5102352"/>
            <a:ext cx="3520440" cy="914400"/>
          </a:xfrm>
          <a:prstGeom prst="roundRect">
            <a:avLst>
              <a:gd name="adj" fmla="val 8000"/>
            </a:avLst>
          </a:prstGeom>
          <a:solidFill>
            <a:srgbClr val="F9FCFF"/>
          </a:solidFill>
          <a:ln w="12700">
            <a:solidFill>
              <a:srgbClr val="D7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6">
                <a:alpha val="1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535424" y="5212080"/>
            <a:ext cx="3191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A66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结论2 场景适配性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535424" y="5486400"/>
            <a:ext cx="31912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双链路设计具备场景适配性，可支持不同交互需求下的方案选择。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7991856" y="5102352"/>
            <a:ext cx="3456432" cy="914400"/>
          </a:xfrm>
          <a:prstGeom prst="roundRect">
            <a:avLst>
              <a:gd name="adj" fmla="val 8000"/>
            </a:avLst>
          </a:prstGeom>
          <a:solidFill>
            <a:srgbClr val="FFF8E8"/>
          </a:solidFill>
          <a:ln w="12700">
            <a:solidFill>
              <a:srgbClr val="D7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6">
                <a:alpha val="1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156448" y="5212080"/>
            <a:ext cx="312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A66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结论3 外部条件影响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8156448" y="5486400"/>
            <a:ext cx="3127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系统表现仍受网络环境、浏览器能力和模型服务稳定性影响。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320040" y="656539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安徽工业大学 | 系统测试与结果分析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3A66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论文特色与设计亮点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859536"/>
            <a:ext cx="7223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从答辩视角概括最值得老师记住的三项核心设计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152144"/>
            <a:ext cx="1371600" cy="0"/>
          </a:xfrm>
          <a:prstGeom prst="line">
            <a:avLst/>
          </a:prstGeom>
          <a:noFill/>
          <a:ln w="12700">
            <a:solidFill>
              <a:srgbClr val="31B6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00200"/>
            <a:ext cx="3429000" cy="361188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7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6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41832" y="1709928"/>
            <a:ext cx="3099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A66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亮点一 统一会话运行时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41832" y="1984248"/>
            <a:ext cx="3099816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将文本对话、语音输入和实时通话纳入同一运行时，统一管理状态、消息流、事件和指标，降低了多交互方式并行时的状态割裂问题。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89120" y="1600200"/>
            <a:ext cx="3429000" cy="361188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7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6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53712" y="1709928"/>
            <a:ext cx="3099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A66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亮点二 双语音链路设计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53712" y="1984248"/>
            <a:ext cx="3099816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同时保留分阶段语音链路和一体化实时语音链路，在工程可控性与实时体验之间形成互补，能够覆盖调试分析与真实通话两类场景。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001000" y="1600200"/>
            <a:ext cx="3429000" cy="361188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7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6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165592" y="1709928"/>
            <a:ext cx="3099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A66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亮点三 知识与个性化闭环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65592" y="1984248"/>
            <a:ext cx="3099816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RAG 知识增强、记忆管理、人格配置和音色管理纳入同一系统，形成从问答能力到个性化体验的完整功能闭环。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051560" y="5532120"/>
            <a:ext cx="10058400" cy="438912"/>
          </a:xfrm>
          <a:prstGeom prst="roundRect">
            <a:avLst>
              <a:gd name="adj" fmla="val 10417"/>
            </a:avLst>
          </a:prstGeom>
          <a:solidFill>
            <a:srgbClr val="EEF8F8"/>
          </a:solidFill>
          <a:ln w="12700">
            <a:solidFill>
              <a:srgbClr val="B9E3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34440" y="5660136"/>
            <a:ext cx="9692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3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答辩时可将这一页作为总结页使用，帮助评审快速抓住本论文相较于普通聊天系统的差异化设计。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" y="656539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安徽工业大学 | 论文特色与设计亮点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3A66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结论与展望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859536"/>
            <a:ext cx="7223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完成了从架构、实现到测试的完整闭环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152144"/>
            <a:ext cx="1371600" cy="0"/>
          </a:xfrm>
          <a:prstGeom prst="line">
            <a:avLst/>
          </a:prstGeom>
          <a:noFill/>
          <a:ln w="12700">
            <a:solidFill>
              <a:srgbClr val="31B6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325880"/>
            <a:ext cx="1353312" cy="310896"/>
          </a:xfrm>
          <a:prstGeom prst="roundRect">
            <a:avLst>
              <a:gd name="adj" fmla="val 23529"/>
            </a:avLst>
          </a:prstGeom>
          <a:solidFill>
            <a:srgbClr val="EAF2FA"/>
          </a:solidFill>
          <a:ln w="12700">
            <a:solidFill>
              <a:srgbClr val="EAF2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353312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6F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22960" y="1783080"/>
            <a:ext cx="5166360" cy="2926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94310" indent="-19431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已实现一个支持文本、语音输入、实时语音通话和知识增强的多模态智能语音聊天机器人系统。</a:t>
            </a:r>
            <a:endParaRPr lang="en-US" sz="1700" dirty="0"/>
          </a:p>
          <a:p>
            <a:pPr marL="194310" indent="-19431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论文围绕统一会话运行时、双语音链路和RAG知识增强完成了系统设计与实现目标。</a:t>
            </a:r>
            <a:endParaRPr lang="en-US" sz="1700" dirty="0"/>
          </a:p>
          <a:p>
            <a:pPr marL="194310" indent="-19431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通过真实页面、测试用例和链路验证，说明系统具备较好的可实现性、可验证性和工程可控性。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0" y="1325880"/>
            <a:ext cx="1353312" cy="310896"/>
          </a:xfrm>
          <a:prstGeom prst="roundRect">
            <a:avLst>
              <a:gd name="adj" fmla="val 23529"/>
            </a:avLst>
          </a:prstGeom>
          <a:solidFill>
            <a:srgbClr val="EEF8F8"/>
          </a:solidFill>
          <a:ln w="12700">
            <a:solidFill>
              <a:srgbClr val="EEF8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353312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6F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展望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400800" y="1783080"/>
            <a:ext cx="47548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7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6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65392" y="1892808"/>
            <a:ext cx="4425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A66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方向1 识别稳定性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65392" y="2167128"/>
            <a:ext cx="4425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进一步优化复杂噪声环境下的语音识别鲁棒性。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0" y="2743200"/>
            <a:ext cx="47548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7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6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65392" y="2852928"/>
            <a:ext cx="4425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A66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方向2 长时对话能力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65392" y="3127248"/>
            <a:ext cx="4425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增强长期记忆召回与多轮调度策略，提高连续对话一致性。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0" y="3703320"/>
            <a:ext cx="47548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7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6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65392" y="3813048"/>
            <a:ext cx="4425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A66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方向3 多模态扩展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65392" y="4087368"/>
            <a:ext cx="4425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拓展图像理解或更丰富的多模态输入输出能力。</a:t>
            </a:r>
            <a:endParaRPr lang="en-US" sz="1050" dirty="0"/>
          </a:p>
        </p:txBody>
      </p:sp>
      <p:pic>
        <p:nvPicPr>
          <p:cNvPr id="19" name="Image 0" descr="D:\AgentLearning\chatBot\output\ppt\assets\fig5-10-realtime-interrupt-sce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78451" y="4681728"/>
            <a:ext cx="3119618" cy="132588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320040" y="656539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安徽工业大学 | 结论与展望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AgentLearning\chatBot\output\ppt\assets\thanks-bg-ai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B34">
              <a:alpha val="78000"/>
            </a:srgbClr>
          </a:solidFill>
          <a:ln w="12700">
            <a:solidFill>
              <a:srgbClr val="081B34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828800" y="205740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感谢各位老师聆听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920240" y="292608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CEA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恳请各位老师批评指正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297680" y="3703320"/>
            <a:ext cx="3566160" cy="0"/>
          </a:xfrm>
          <a:prstGeom prst="line">
            <a:avLst/>
          </a:prstGeom>
          <a:noFill/>
          <a:ln w="12700">
            <a:solidFill>
              <a:srgbClr val="59C0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834640" y="3977640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CEA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智能语音聊天机器人设计与实现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安徽工业大学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智能语音聊天机器人设计与实现</dc:title>
  <dc:subject>智能语音聊天机器人设计与实现毕业答辩</dc:subject>
  <dc:creator>OpenAI Codex</dc:creator>
  <cp:lastModifiedBy>OpenAI Codex</cp:lastModifiedBy>
  <cp:revision>1</cp:revision>
  <dcterms:created xsi:type="dcterms:W3CDTF">2026-05-28T01:58:29Z</dcterms:created>
  <dcterms:modified xsi:type="dcterms:W3CDTF">2026-05-28T01:58:29Z</dcterms:modified>
</cp:coreProperties>
</file>