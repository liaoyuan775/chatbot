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HUT_MASTER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E3A66"/>
          </a:solidFill>
          <a:ln w="12700">
            <a:solidFill>
              <a:srgbClr val="0E3A6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E3A66"/>
          </a:solidFill>
          <a:ln w="12700">
            <a:solidFill>
              <a:srgbClr val="0E3A66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65392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65392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AgentLearning\chatBot\output\ppt\assets\cover-hero-ai.png">    </p:cNvPr>
          <p:cNvPicPr>
            <a:picLocks noChangeAspect="1"/>
          </p:cNvPicPr>
          <p:nvPr/>
        </p:nvPicPr>
        <p:blipFill>
          <a:blip r:embed="rId1"/>
          <a:srcRect l="0" r="0"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5577840" cy="6858000"/>
          </a:xfrm>
          <a:prstGeom prst="rect">
            <a:avLst/>
          </a:prstGeom>
          <a:solidFill>
            <a:srgbClr val="071B33">
              <a:alpha val="78000"/>
            </a:srgbClr>
          </a:solidFill>
          <a:ln w="12700">
            <a:solidFill>
              <a:srgbClr val="071B33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40080" y="105156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智能语音聊天机器人设计与实现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658368" y="199339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8E7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 React、FastAPI 与检索增强生成的多模态语音对话系统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658368" y="2560320"/>
            <a:ext cx="1554480" cy="0"/>
          </a:xfrm>
          <a:prstGeom prst="line">
            <a:avLst/>
          </a:prstGeom>
          <a:noFill/>
          <a:ln w="12700">
            <a:solidFill>
              <a:srgbClr val="4CC9F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13232" y="2880360"/>
            <a:ext cx="33832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专业：计算机科学与技术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班级：计225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姓名：廖园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学号：229074182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指导教师：王朋飞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答辩日期：2026年5月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13232" y="617220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7D9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安徽工业大学毕业设计答辩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3A66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研究背景与课题意义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66928" y="859536"/>
            <a:ext cx="7223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6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从研究现状、现有不足和课题价值三方面说明选题依据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48640" y="1152144"/>
            <a:ext cx="1371600" cy="0"/>
          </a:xfrm>
          <a:prstGeom prst="line">
            <a:avLst/>
          </a:prstGeom>
          <a:noFill/>
          <a:ln w="12700">
            <a:solidFill>
              <a:srgbClr val="31B6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325880"/>
            <a:ext cx="1353312" cy="310896"/>
          </a:xfrm>
          <a:prstGeom prst="roundRect">
            <a:avLst>
              <a:gd name="adj" fmla="val 23529"/>
            </a:avLst>
          </a:prstGeom>
          <a:solidFill>
            <a:srgbClr val="EAF2FA"/>
          </a:solidFill>
          <a:ln w="12700">
            <a:solidFill>
              <a:srgbClr val="EAF2F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353312"/>
            <a:ext cx="1353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6F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背景现状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777240" y="1783080"/>
            <a:ext cx="5532120" cy="2011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194310" indent="-194310"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大语言模型、语音识别与语音合成快速发展，语音交互系统正从单轮问答走向连续对话。</a:t>
            </a:r>
            <a:endParaRPr lang="en-US" sz="1700" dirty="0"/>
          </a:p>
          <a:p>
            <a:pPr marL="194310" indent="-194310"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面向教育陪练、智能助手等场景，系统不仅要会回答，还要具备低时延、可打断和上下文连续能力。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731520" y="3822192"/>
            <a:ext cx="1353312" cy="310896"/>
          </a:xfrm>
          <a:prstGeom prst="roundRect">
            <a:avLst>
              <a:gd name="adj" fmla="val 23529"/>
            </a:avLst>
          </a:prstGeom>
          <a:solidFill>
            <a:srgbClr val="EAF2FA"/>
          </a:solidFill>
          <a:ln w="12700">
            <a:solidFill>
              <a:srgbClr val="EAF2F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3849624"/>
            <a:ext cx="1353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6F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现有不足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777240" y="4251960"/>
            <a:ext cx="5532120" cy="1554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188595" indent="-188595">
              <a:buSzPct val="100000"/>
              <a:buChar char="•"/>
            </a:pPr>
            <a:r>
              <a:rPr lang="en-US" sz="16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现有系统往往将文本、语音输入和实时通话割裂实现，状态同步与链路切换成本较高。</a:t>
            </a:r>
            <a:endParaRPr lang="en-US" sz="1650" dirty="0"/>
          </a:p>
          <a:p>
            <a:pPr marL="188595" indent="-188595">
              <a:buSzPct val="100000"/>
              <a:buChar char="•"/>
            </a:pPr>
            <a:r>
              <a:rPr lang="en-US" sz="16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通用模型缺少私有知识支撑，面对项目资料型问题时回答容易停留在泛化表述。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6720840" y="1627632"/>
            <a:ext cx="4617720" cy="1051560"/>
          </a:xfrm>
          <a:prstGeom prst="roundRect">
            <a:avLst>
              <a:gd name="adj" fmla="val 6957"/>
            </a:avLst>
          </a:prstGeom>
          <a:solidFill>
            <a:srgbClr val="F9FCFF"/>
          </a:solidFill>
          <a:ln w="12700">
            <a:solidFill>
              <a:srgbClr val="D7E3F0"/>
            </a:solidFill>
            <a:prstDash val="solid"/>
          </a:ln>
          <a:effectLst>
            <a:outerShdw sx="100000" sy="100000" kx="0" ky="0" algn="bl" rotWithShape="0" blurRad="12700" dist="50800" dir="2700000">
              <a:srgbClr val="9AA7B6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885432" y="1737360"/>
            <a:ext cx="42885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3A66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交互层不足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885432" y="2011680"/>
            <a:ext cx="4288536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语音体验不连续，打断响应和交互节奏仍不理想。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720840" y="2761488"/>
            <a:ext cx="4617720" cy="1051560"/>
          </a:xfrm>
          <a:prstGeom prst="roundRect">
            <a:avLst>
              <a:gd name="adj" fmla="val 6957"/>
            </a:avLst>
          </a:prstGeom>
          <a:solidFill>
            <a:srgbClr val="F9FCFF"/>
          </a:solidFill>
          <a:ln w="12700">
            <a:solidFill>
              <a:srgbClr val="D7E3F0"/>
            </a:solidFill>
            <a:prstDash val="solid"/>
          </a:ln>
          <a:effectLst>
            <a:outerShdw sx="100000" sy="100000" kx="0" ky="0" algn="bl" rotWithShape="0" blurRad="12700" dist="50800" dir="2700000">
              <a:srgbClr val="9AA7B6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885432" y="2871216"/>
            <a:ext cx="42885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3A66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知识层不足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885432" y="3145536"/>
            <a:ext cx="4288536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缺少私有资料支撑，资料型问答的针对性和可靠性不足。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720840" y="3895344"/>
            <a:ext cx="4617720" cy="1051560"/>
          </a:xfrm>
          <a:prstGeom prst="roundRect">
            <a:avLst>
              <a:gd name="adj" fmla="val 6957"/>
            </a:avLst>
          </a:prstGeom>
          <a:solidFill>
            <a:srgbClr val="F9FCFF"/>
          </a:solidFill>
          <a:ln w="12700">
            <a:solidFill>
              <a:srgbClr val="D7E3F0"/>
            </a:solidFill>
            <a:prstDash val="solid"/>
          </a:ln>
          <a:effectLst>
            <a:outerShdw sx="100000" sy="100000" kx="0" ky="0" algn="bl" rotWithShape="0" blurRad="12700" dist="50800" dir="2700000">
              <a:srgbClr val="9AA7B6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885432" y="4005072"/>
            <a:ext cx="42885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3A66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工程层不足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885432" y="4279392"/>
            <a:ext cx="4288536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链路与配置缺少统一组织，维护、替换与扩展成本较高。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720840" y="5029200"/>
            <a:ext cx="4617720" cy="868680"/>
          </a:xfrm>
          <a:prstGeom prst="roundRect">
            <a:avLst>
              <a:gd name="adj" fmla="val 8421"/>
            </a:avLst>
          </a:prstGeom>
          <a:solidFill>
            <a:srgbClr val="FFF8E8"/>
          </a:solidFill>
          <a:ln w="12700">
            <a:solidFill>
              <a:srgbClr val="D7E3F0"/>
            </a:solidFill>
            <a:prstDash val="solid"/>
          </a:ln>
          <a:effectLst>
            <a:outerShdw sx="100000" sy="100000" kx="0" ky="0" algn="bl" rotWithShape="0" blurRad="12700" dist="50800" dir="2700000">
              <a:srgbClr val="9AA7B6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885432" y="5138928"/>
            <a:ext cx="42885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3A66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本课题意义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885432" y="5413248"/>
            <a:ext cx="428853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围绕统一运行时构建多模态语音对话系统，为论文研究与工程落地提供可验证样本。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20040" y="6565392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安徽工业大学 | 研究背景与课题意义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65392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3A66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研究目标与论文工作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66928" y="859536"/>
            <a:ext cx="7223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6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系统目标不是单一功能验证，而是形成完整工程闭环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48640" y="1152144"/>
            <a:ext cx="1371600" cy="0"/>
          </a:xfrm>
          <a:prstGeom prst="line">
            <a:avLst/>
          </a:prstGeom>
          <a:noFill/>
          <a:ln w="12700">
            <a:solidFill>
              <a:srgbClr val="31B6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417320"/>
            <a:ext cx="10698480" cy="713232"/>
          </a:xfrm>
          <a:prstGeom prst="roundRect">
            <a:avLst>
              <a:gd name="adj" fmla="val 10256"/>
            </a:avLst>
          </a:prstGeom>
          <a:solidFill>
            <a:srgbClr val="EAF4FF"/>
          </a:solidFill>
          <a:ln w="12700">
            <a:solidFill>
              <a:srgbClr val="B9D6F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627632"/>
            <a:ext cx="10241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3A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设计并实现一个支持文本、语音输入、实时语音通话和知识增强的智能语音聊天机器人系统。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22960" y="2560320"/>
            <a:ext cx="475488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7E3F0"/>
            </a:solidFill>
            <a:prstDash val="solid"/>
          </a:ln>
          <a:effectLst>
            <a:outerShdw sx="100000" sy="100000" kx="0" ky="0" algn="bl" rotWithShape="0" blurRad="12700" dist="50800" dir="2700000">
              <a:srgbClr val="9AA7B6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87552" y="2670048"/>
            <a:ext cx="4425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3A66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需求分析与数据库设计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87552" y="2944368"/>
            <a:ext cx="4425696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梳理功能需求、非功能需求和核心数据结构。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217920" y="2560320"/>
            <a:ext cx="475488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7E3F0"/>
            </a:solidFill>
            <a:prstDash val="solid"/>
          </a:ln>
          <a:effectLst>
            <a:outerShdw sx="100000" sy="100000" kx="0" ky="0" algn="bl" rotWithShape="0" blurRad="12700" dist="50800" dir="2700000">
              <a:srgbClr val="9AA7B6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382512" y="2670048"/>
            <a:ext cx="4425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3A66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统一会话运行时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382512" y="2944368"/>
            <a:ext cx="4425696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统一组织文本对话、语音输入和实时通话。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22960" y="3931920"/>
            <a:ext cx="475488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7E3F0"/>
            </a:solidFill>
            <a:prstDash val="solid"/>
          </a:ln>
          <a:effectLst>
            <a:outerShdw sx="100000" sy="100000" kx="0" ky="0" algn="bl" rotWithShape="0" blurRad="12700" dist="50800" dir="2700000">
              <a:srgbClr val="9AA7B6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87552" y="4041648"/>
            <a:ext cx="4425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3A66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双语音链路实现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87552" y="4315968"/>
            <a:ext cx="4425696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实现分阶段链路和一体化实时链路两种策略。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217920" y="3931920"/>
            <a:ext cx="475488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7E3F0"/>
            </a:solidFill>
            <a:prstDash val="solid"/>
          </a:ln>
          <a:effectLst>
            <a:outerShdw sx="100000" sy="100000" kx="0" ky="0" algn="bl" rotWithShape="0" blurRad="12700" dist="50800" dir="2700000">
              <a:srgbClr val="9AA7B6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382512" y="4041648"/>
            <a:ext cx="4425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3A66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知识与个性化能力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382512" y="4315968"/>
            <a:ext cx="4425696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接入RAG、记忆管理、人格配置与音色管理。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520440" y="5303520"/>
            <a:ext cx="51206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7E3F0"/>
            </a:solidFill>
            <a:prstDash val="solid"/>
          </a:ln>
          <a:effectLst>
            <a:outerShdw sx="100000" sy="100000" kx="0" ky="0" algn="bl" rotWithShape="0" blurRad="12700" dist="50800" dir="2700000">
              <a:srgbClr val="9AA7B6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85032" y="5413248"/>
            <a:ext cx="4791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3A66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论文验证与结果分析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685032" y="5687568"/>
            <a:ext cx="4791456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通过真实页面、测试用例与链路结果分析系统效果。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20040" y="6565392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安徽工业大学 | 研究目标与论文工作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65392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3A66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系统总体架构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66928" y="859536"/>
            <a:ext cx="7223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6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整场答辩的总览：前端、后端、数据与外部服务协同工作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48640" y="1152144"/>
            <a:ext cx="1371600" cy="0"/>
          </a:xfrm>
          <a:prstGeom prst="line">
            <a:avLst/>
          </a:prstGeom>
          <a:noFill/>
          <a:ln w="12700">
            <a:solidFill>
              <a:srgbClr val="31B6D6"/>
            </a:solidFill>
            <a:prstDash val="solid"/>
          </a:ln>
        </p:spPr>
      </p:sp>
      <p:pic>
        <p:nvPicPr>
          <p:cNvPr id="5" name="Image 0" descr="D:\AgentLearning\chatBot\output\ppt\assets\system_architec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2638818"/>
            <a:ext cx="8183880" cy="226616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43000" y="5961888"/>
            <a:ext cx="6583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5B66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系统总体架构图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8823960" y="1627632"/>
            <a:ext cx="27432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D7E3F0"/>
            </a:solidFill>
            <a:prstDash val="solid"/>
          </a:ln>
          <a:effectLst>
            <a:outerShdw sx="100000" sy="100000" kx="0" ky="0" algn="bl" rotWithShape="0" blurRad="12700" dist="50800" dir="2700000">
              <a:srgbClr val="9AA7B6">
                <a:alpha val="1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8988552" y="1737360"/>
            <a:ext cx="24140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3A66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前端交互层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988552" y="2011680"/>
            <a:ext cx="241401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负责聊天交互、语音输入、实时通话和状态呈现。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8823960" y="2880360"/>
            <a:ext cx="27432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D7E3F0"/>
            </a:solidFill>
            <a:prstDash val="solid"/>
          </a:ln>
          <a:effectLst>
            <a:outerShdw sx="100000" sy="100000" kx="0" ky="0" algn="bl" rotWithShape="0" blurRad="12700" dist="50800" dir="2700000">
              <a:srgbClr val="9AA7B6">
                <a:alpha val="1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8988552" y="2990088"/>
            <a:ext cx="24140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3A66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后端编排层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8988552" y="3264408"/>
            <a:ext cx="241401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统一暴露接口并组织知识检索、模型调用与链路执行。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8823960" y="4133088"/>
            <a:ext cx="27432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D7E3F0"/>
            </a:solidFill>
            <a:prstDash val="solid"/>
          </a:ln>
          <a:effectLst>
            <a:outerShdw sx="100000" sy="100000" kx="0" ky="0" algn="bl" rotWithShape="0" blurRad="12700" dist="50800" dir="2700000">
              <a:srgbClr val="9AA7B6">
                <a:alpha val="10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8988552" y="4242816"/>
            <a:ext cx="24140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3A66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数据与服务层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8988552" y="4517136"/>
            <a:ext cx="241401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负责会话存储、向量检索以及外部模型与语音服务接入。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320040" y="6565392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安徽工业大学 | 系统总体架构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65392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3A66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核心功能模块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66928" y="859536"/>
            <a:ext cx="7223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6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功能设计围绕用户侧交互能力与系统侧配置能力展开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48640" y="1152144"/>
            <a:ext cx="1371600" cy="0"/>
          </a:xfrm>
          <a:prstGeom prst="line">
            <a:avLst/>
          </a:prstGeom>
          <a:noFill/>
          <a:ln w="12700">
            <a:solidFill>
              <a:srgbClr val="31B6D6"/>
            </a:solidFill>
            <a:prstDash val="solid"/>
          </a:ln>
        </p:spPr>
      </p:sp>
      <p:pic>
        <p:nvPicPr>
          <p:cNvPr id="5" name="Image 0" descr="D:\AgentLearning\chatBot\output\ppt\assets\system_function_modul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573973"/>
            <a:ext cx="6949440" cy="435013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88720" y="5943600"/>
            <a:ext cx="5394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5B66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系统功能模块图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7635240" y="1645920"/>
            <a:ext cx="3749040" cy="1874520"/>
          </a:xfrm>
          <a:prstGeom prst="roundRect">
            <a:avLst>
              <a:gd name="adj" fmla="val 3902"/>
            </a:avLst>
          </a:prstGeom>
          <a:solidFill>
            <a:srgbClr val="F9FCFF"/>
          </a:solidFill>
          <a:ln w="12700">
            <a:solidFill>
              <a:srgbClr val="D7E3F0"/>
            </a:solidFill>
            <a:prstDash val="solid"/>
          </a:ln>
          <a:effectLst>
            <a:outerShdw sx="100000" sy="100000" kx="0" ky="0" algn="bl" rotWithShape="0" blurRad="12700" dist="50800" dir="2700000">
              <a:srgbClr val="9AA7B6">
                <a:alpha val="1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799832" y="1755648"/>
            <a:ext cx="34198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3A66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用户侧能力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799832" y="2029968"/>
            <a:ext cx="3419856" cy="1399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文本对话、语音输入、实时通话和知识问答，面向实际交互场景提供连续体验。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7635240" y="3703320"/>
            <a:ext cx="3749040" cy="1874520"/>
          </a:xfrm>
          <a:prstGeom prst="roundRect">
            <a:avLst>
              <a:gd name="adj" fmla="val 3902"/>
            </a:avLst>
          </a:prstGeom>
          <a:solidFill>
            <a:srgbClr val="F9FCFF"/>
          </a:solidFill>
          <a:ln w="12700">
            <a:solidFill>
              <a:srgbClr val="D7E3F0"/>
            </a:solidFill>
            <a:prstDash val="solid"/>
          </a:ln>
          <a:effectLst>
            <a:outerShdw sx="100000" sy="100000" kx="0" ky="0" algn="bl" rotWithShape="0" blurRad="12700" dist="50800" dir="2700000">
              <a:srgbClr val="9AA7B6">
                <a:alpha val="1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7799832" y="3813048"/>
            <a:ext cx="34198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3A66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系统侧能力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7799832" y="4087368"/>
            <a:ext cx="3419856" cy="1399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Provider、链路、人格、音色、知识库与系统设置共同支撑系统可维护性。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320040" y="6565392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安徽工业大学 | 核心功能模块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65392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3A66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关键设计一：统一会话运行时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66928" y="859536"/>
            <a:ext cx="7223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6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将文本对话、语音输入和实时通话纳入同一运行时模型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48640" y="1152144"/>
            <a:ext cx="1371600" cy="0"/>
          </a:xfrm>
          <a:prstGeom prst="line">
            <a:avLst/>
          </a:prstGeom>
          <a:noFill/>
          <a:ln w="12700">
            <a:solidFill>
              <a:srgbClr val="31B6D6"/>
            </a:solidFill>
            <a:prstDash val="solid"/>
          </a:ln>
        </p:spPr>
      </p:sp>
      <p:pic>
        <p:nvPicPr>
          <p:cNvPr id="5" name="Image 0" descr="D:\AgentLearning\chatBot\output\ppt\assets\runtime-concept-a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5080" y="2099483"/>
            <a:ext cx="5212080" cy="293335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7240" y="1325880"/>
            <a:ext cx="1353312" cy="310896"/>
          </a:xfrm>
          <a:prstGeom prst="roundRect">
            <a:avLst>
              <a:gd name="adj" fmla="val 23529"/>
            </a:avLst>
          </a:prstGeom>
          <a:solidFill>
            <a:srgbClr val="EAF2FA"/>
          </a:solidFill>
          <a:ln w="12700">
            <a:solidFill>
              <a:srgbClr val="EAF2F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77240" y="1353312"/>
            <a:ext cx="1353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6F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核心思想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822960" y="1783080"/>
            <a:ext cx="5074920" cy="3017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194310" indent="-194310"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统一状态：集中管理会话标识、运行状态、转写文本和消息流。</a:t>
            </a:r>
            <a:endParaRPr lang="en-US" sz="1700" dirty="0"/>
          </a:p>
          <a:p>
            <a:pPr marL="194310" indent="-194310"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统一事件：以一致的事件模型驱动页面更新，减少多链路并行时的状态分散问题。</a:t>
            </a:r>
            <a:endParaRPr lang="en-US" sz="1700" dirty="0"/>
          </a:p>
          <a:p>
            <a:pPr marL="194310" indent="-194310"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统一扩展入口：把文本、语音输入和实时通话抽象成统一接口，便于切换、替换与扩展。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841248" y="5257800"/>
            <a:ext cx="132588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D7E3F0"/>
            </a:solidFill>
            <a:prstDash val="solid"/>
          </a:ln>
          <a:effectLst>
            <a:outerShdw sx="100000" sy="100000" kx="0" ky="0" algn="bl" rotWithShape="0" blurRad="12700" dist="50800" dir="2700000">
              <a:srgbClr val="9AA7B6">
                <a:alpha val="1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1005840" y="5367528"/>
            <a:ext cx="996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3A66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状态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1005840" y="5641848"/>
            <a:ext cx="9966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待机、监听、思考、播报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2267712" y="5257800"/>
            <a:ext cx="132588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D7E3F0"/>
            </a:solidFill>
            <a:prstDash val="solid"/>
          </a:ln>
          <a:effectLst>
            <a:outerShdw sx="100000" sy="100000" kx="0" ky="0" algn="bl" rotWithShape="0" blurRad="12700" dist="50800" dir="2700000">
              <a:srgbClr val="9AA7B6">
                <a:alpha val="10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2432304" y="5367528"/>
            <a:ext cx="996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3A66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消息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2432304" y="5641848"/>
            <a:ext cx="9966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会话流与转写文本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3694176" y="5257800"/>
            <a:ext cx="132588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D7E3F0"/>
            </a:solidFill>
            <a:prstDash val="solid"/>
          </a:ln>
          <a:effectLst>
            <a:outerShdw sx="100000" sy="100000" kx="0" ky="0" algn="bl" rotWithShape="0" blurRad="12700" dist="50800" dir="2700000">
              <a:srgbClr val="9AA7B6">
                <a:alpha val="10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3858768" y="5367528"/>
            <a:ext cx="996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3A66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指标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3858768" y="5641848"/>
            <a:ext cx="9966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首字延迟、总耗时等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5120640" y="5257800"/>
            <a:ext cx="132588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D7E3F0"/>
            </a:solidFill>
            <a:prstDash val="solid"/>
          </a:ln>
          <a:effectLst>
            <a:outerShdw sx="100000" sy="100000" kx="0" ky="0" algn="bl" rotWithShape="0" blurRad="12700" dist="50800" dir="2700000">
              <a:srgbClr val="9AA7B6">
                <a:alpha val="10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5285232" y="5367528"/>
            <a:ext cx="996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3A66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事件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5285232" y="5641848"/>
            <a:ext cx="9966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统一分发与订阅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320040" y="6565392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安徽工业大学 | 统一会话运行时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65392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3A66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关键设计二：双语音链路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66928" y="859536"/>
            <a:ext cx="7223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6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保留双链路不是重复实现，而是为了兼顾实时体验和工程可控性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48640" y="1152144"/>
            <a:ext cx="1371600" cy="0"/>
          </a:xfrm>
          <a:prstGeom prst="line">
            <a:avLst/>
          </a:prstGeom>
          <a:noFill/>
          <a:ln w="12700">
            <a:solidFill>
              <a:srgbClr val="31B6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1481328"/>
            <a:ext cx="3657600" cy="1993392"/>
          </a:xfrm>
          <a:prstGeom prst="roundRect">
            <a:avLst>
              <a:gd name="adj" fmla="val 3670"/>
            </a:avLst>
          </a:prstGeom>
          <a:solidFill>
            <a:srgbClr val="F9FCFF"/>
          </a:solidFill>
          <a:ln w="12700">
            <a:solidFill>
              <a:srgbClr val="D7E3F0"/>
            </a:solidFill>
            <a:prstDash val="solid"/>
          </a:ln>
          <a:effectLst>
            <a:outerShdw sx="100000" sy="100000" kx="0" ky="0" algn="bl" rotWithShape="0" blurRad="12700" dist="50800" dir="2700000">
              <a:srgbClr val="9AA7B6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591056"/>
            <a:ext cx="33284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3A66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分阶段语音链路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1865376"/>
            <a:ext cx="3328416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适用场景：调试、实验分析与链路替换。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优势：模块边界清晰，可控性强。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局限：交互节奏相对较慢。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498848" y="1481328"/>
            <a:ext cx="3657600" cy="1993392"/>
          </a:xfrm>
          <a:prstGeom prst="roundRect">
            <a:avLst>
              <a:gd name="adj" fmla="val 3670"/>
            </a:avLst>
          </a:prstGeom>
          <a:solidFill>
            <a:srgbClr val="F9FCFF"/>
          </a:solidFill>
          <a:ln w="12700">
            <a:solidFill>
              <a:srgbClr val="D7E3F0"/>
            </a:solidFill>
            <a:prstDash val="solid"/>
          </a:ln>
          <a:effectLst>
            <a:outerShdw sx="100000" sy="100000" kx="0" ky="0" algn="bl" rotWithShape="0" blurRad="12700" dist="50800" dir="2700000">
              <a:srgbClr val="9AA7B6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663440" y="1591056"/>
            <a:ext cx="33284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3A66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一体化实时语音链路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663440" y="1865376"/>
            <a:ext cx="3328416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适用场景：连续通话与实时交互。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优势：低时延、可插话、体验自然。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局限：对网络和服务协同要求更高。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8339328" y="1481328"/>
            <a:ext cx="3154680" cy="1993392"/>
          </a:xfrm>
          <a:prstGeom prst="roundRect">
            <a:avLst>
              <a:gd name="adj" fmla="val 3670"/>
            </a:avLst>
          </a:prstGeom>
          <a:solidFill>
            <a:srgbClr val="FFF8E8"/>
          </a:solidFill>
          <a:ln w="12700">
            <a:solidFill>
              <a:srgbClr val="D7E3F0"/>
            </a:solidFill>
            <a:prstDash val="solid"/>
          </a:ln>
          <a:effectLst>
            <a:outerShdw sx="100000" sy="100000" kx="0" ky="0" algn="bl" rotWithShape="0" blurRad="12700" dist="50800" dir="2700000">
              <a:srgbClr val="9AA7B6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503920" y="1591056"/>
            <a:ext cx="2825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3A66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设计结论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503920" y="1865376"/>
            <a:ext cx="2825496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双链路设计体现了论文中的方案比较思路：在可控性与实时性之间按场景取舍。</a:t>
            </a:r>
            <a:endParaRPr lang="en-US" sz="1050" dirty="0"/>
          </a:p>
        </p:txBody>
      </p:sp>
      <p:pic>
        <p:nvPicPr>
          <p:cNvPr id="14" name="Image 0" descr="D:\AgentLearning\chatBot\output\ppt\assets\voice_interaction_fl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4238941"/>
            <a:ext cx="5212080" cy="666118"/>
          </a:xfrm>
          <a:prstGeom prst="rect">
            <a:avLst/>
          </a:prstGeom>
        </p:spPr>
      </p:pic>
      <p:pic>
        <p:nvPicPr>
          <p:cNvPr id="15" name="Image 1" descr="D:\AgentLearning\chatBot\output\ppt\assets\realtime_sequenc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60764" y="3657600"/>
            <a:ext cx="2217832" cy="182880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005840" y="566928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5B66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分阶段语音交互流程</a:t>
            </a:r>
            <a:endParaRPr lang="en-US" sz="850" dirty="0"/>
          </a:p>
        </p:txBody>
      </p:sp>
      <p:sp>
        <p:nvSpPr>
          <p:cNvPr id="17" name="Text 13"/>
          <p:cNvSpPr/>
          <p:nvPr/>
        </p:nvSpPr>
        <p:spPr>
          <a:xfrm>
            <a:off x="6583680" y="566928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5B66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实时语音通话时序图</a:t>
            </a:r>
            <a:endParaRPr lang="en-US" sz="850" dirty="0"/>
          </a:p>
        </p:txBody>
      </p:sp>
      <p:sp>
        <p:nvSpPr>
          <p:cNvPr id="18" name="Text 14"/>
          <p:cNvSpPr/>
          <p:nvPr/>
        </p:nvSpPr>
        <p:spPr>
          <a:xfrm>
            <a:off x="320040" y="6565392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安徽工业大学 | 双语音链路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65392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3A66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关键设计三：RAG知识增强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66928" y="859536"/>
            <a:ext cx="7223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6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RAG：检索增强生成，用于提升资料型问答的针对性与可靠性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48640" y="1152144"/>
            <a:ext cx="1371600" cy="0"/>
          </a:xfrm>
          <a:prstGeom prst="line">
            <a:avLst/>
          </a:prstGeom>
          <a:noFill/>
          <a:ln w="12700">
            <a:solidFill>
              <a:srgbClr val="31B6D6"/>
            </a:solidFill>
            <a:prstDash val="solid"/>
          </a:ln>
        </p:spPr>
      </p:sp>
      <p:pic>
        <p:nvPicPr>
          <p:cNvPr id="5" name="Image 0" descr="D:\AgentLearning\chatBot\output\ppt\assets\fig4-4-rag-workfl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0" y="2462282"/>
            <a:ext cx="5486400" cy="2390635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7240" y="1353312"/>
            <a:ext cx="1353312" cy="310896"/>
          </a:xfrm>
          <a:prstGeom prst="roundRect">
            <a:avLst>
              <a:gd name="adj" fmla="val 23529"/>
            </a:avLst>
          </a:prstGeom>
          <a:solidFill>
            <a:srgbClr val="EAF2FA"/>
          </a:solidFill>
          <a:ln w="12700">
            <a:solidFill>
              <a:srgbClr val="EAF2F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77240" y="1380744"/>
            <a:ext cx="1353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6F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方法流程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822960" y="1783080"/>
            <a:ext cx="466344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D7E3F0"/>
            </a:solidFill>
            <a:prstDash val="solid"/>
          </a:ln>
          <a:effectLst>
            <a:outerShdw sx="100000" sy="100000" kx="0" ky="0" algn="bl" rotWithShape="0" blurRad="12700" dist="50800" dir="2700000">
              <a:srgbClr val="9AA7B6">
                <a:alpha val="1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987552" y="1892808"/>
            <a:ext cx="43342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3A66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步骤1 问题输入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987552" y="2167128"/>
            <a:ext cx="4334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系统接收文本问题或由语音识别转写后的问题。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822960" y="2633472"/>
            <a:ext cx="466344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D7E3F0"/>
            </a:solidFill>
            <a:prstDash val="solid"/>
          </a:ln>
          <a:effectLst>
            <a:outerShdw sx="100000" sy="100000" kx="0" ky="0" algn="bl" rotWithShape="0" blurRad="12700" dist="50800" dir="2700000">
              <a:srgbClr val="9AA7B6">
                <a:alpha val="1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987552" y="2743200"/>
            <a:ext cx="43342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3A66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步骤2 检索门控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987552" y="3017520"/>
            <a:ext cx="4334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先判断是否需要知识增强，避免每轮都无差别触发检索。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822960" y="3483864"/>
            <a:ext cx="466344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D7E3F0"/>
            </a:solidFill>
            <a:prstDash val="solid"/>
          </a:ln>
          <a:effectLst>
            <a:outerShdw sx="100000" sy="100000" kx="0" ky="0" algn="bl" rotWithShape="0" blurRad="12700" dist="50800" dir="2700000">
              <a:srgbClr val="9AA7B6">
                <a:alpha val="10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987552" y="3593592"/>
            <a:ext cx="43342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3A66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步骤3 召回与重排序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987552" y="3867912"/>
            <a:ext cx="4334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从知识库切片中筛选相关内容，构造高质量知识上下文。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822960" y="4334256"/>
            <a:ext cx="466344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D7E3F0"/>
            </a:solidFill>
            <a:prstDash val="solid"/>
          </a:ln>
          <a:effectLst>
            <a:outerShdw sx="100000" sy="100000" kx="0" ky="0" algn="bl" rotWithShape="0" blurRad="12700" dist="50800" dir="2700000">
              <a:srgbClr val="9AA7B6">
                <a:alpha val="10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987552" y="4443984"/>
            <a:ext cx="43342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3A66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步骤4 上下文注入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987552" y="4718304"/>
            <a:ext cx="4334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把知识片段与会话历史共同注入模型，生成更贴近资料的回答。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822960" y="5230368"/>
            <a:ext cx="4663440" cy="621792"/>
          </a:xfrm>
          <a:prstGeom prst="roundRect">
            <a:avLst>
              <a:gd name="adj" fmla="val 11765"/>
            </a:avLst>
          </a:prstGeom>
          <a:solidFill>
            <a:srgbClr val="FFF8E8"/>
          </a:solidFill>
          <a:ln w="12700">
            <a:solidFill>
              <a:srgbClr val="D7E3F0"/>
            </a:solidFill>
            <a:prstDash val="solid"/>
          </a:ln>
          <a:effectLst>
            <a:outerShdw sx="100000" sy="100000" kx="0" ky="0" algn="bl" rotWithShape="0" blurRad="12700" dist="50800" dir="2700000">
              <a:srgbClr val="9AA7B6">
                <a:alpha val="10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987552" y="5340096"/>
            <a:ext cx="43342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3A66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作用结论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987552" y="5614416"/>
            <a:ext cx="43342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该方法主要用于提升资料型问答的针对性与可靠性。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320040" y="6565392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安徽工业大学 | RAG知识增强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65392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3A66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数据库与数据设计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66928" y="859536"/>
            <a:ext cx="7223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6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数据库设计围绕会话、配置、知识和审计四类数据展开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48640" y="1152144"/>
            <a:ext cx="1371600" cy="0"/>
          </a:xfrm>
          <a:prstGeom prst="line">
            <a:avLst/>
          </a:prstGeom>
          <a:noFill/>
          <a:ln w="12700">
            <a:solidFill>
              <a:srgbClr val="31B6D6"/>
            </a:solidFill>
            <a:prstDash val="solid"/>
          </a:ln>
        </p:spPr>
      </p:sp>
      <p:pic>
        <p:nvPicPr>
          <p:cNvPr id="5" name="Image 0" descr="D:\AgentLearning\chatBot\output\ppt\assets\database_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752226"/>
            <a:ext cx="6766560" cy="390218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5897880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5B66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数据库 E-R 图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7543800" y="1645920"/>
            <a:ext cx="36576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7E3F0"/>
            </a:solidFill>
            <a:prstDash val="solid"/>
          </a:ln>
          <a:effectLst>
            <a:outerShdw sx="100000" sy="100000" kx="0" ky="0" algn="bl" rotWithShape="0" blurRad="12700" dist="50800" dir="2700000">
              <a:srgbClr val="9AA7B6">
                <a:alpha val="1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708392" y="1755648"/>
            <a:ext cx="33284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3A66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会话与消息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708392" y="2029968"/>
            <a:ext cx="332841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保存会话标题、消息内容、内容类型和交互历史。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7543800" y="2697480"/>
            <a:ext cx="36576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7E3F0"/>
            </a:solidFill>
            <a:prstDash val="solid"/>
          </a:ln>
          <a:effectLst>
            <a:outerShdw sx="100000" sy="100000" kx="0" ky="0" algn="bl" rotWithShape="0" blurRad="12700" dist="50800" dir="2700000">
              <a:srgbClr val="9AA7B6">
                <a:alpha val="1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7708392" y="2807208"/>
            <a:ext cx="33284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3A66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上下文记忆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7708392" y="3081528"/>
            <a:ext cx="332841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维护短期记忆、中期摘要和长期向量记忆。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7543800" y="3749040"/>
            <a:ext cx="36576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7E3F0"/>
            </a:solidFill>
            <a:prstDash val="solid"/>
          </a:ln>
          <a:effectLst>
            <a:outerShdw sx="100000" sy="100000" kx="0" ky="0" algn="bl" rotWithShape="0" blurRad="12700" dist="50800" dir="2700000">
              <a:srgbClr val="9AA7B6">
                <a:alpha val="10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7708392" y="3858768"/>
            <a:ext cx="33284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3A66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Provider 与模型目录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7708392" y="4133088"/>
            <a:ext cx="332841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统一保存模型服务地址、模型清单和状态信息。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7543800" y="4800600"/>
            <a:ext cx="36576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7E3F0"/>
            </a:solidFill>
            <a:prstDash val="solid"/>
          </a:ln>
          <a:effectLst>
            <a:outerShdw sx="100000" sy="100000" kx="0" ky="0" algn="bl" rotWithShape="0" blurRad="12700" dist="50800" dir="2700000">
              <a:srgbClr val="9AA7B6">
                <a:alpha val="10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7708392" y="4910328"/>
            <a:ext cx="33284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3A66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知识与审计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7708392" y="5184648"/>
            <a:ext cx="332841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保存知识库、文档切片、向量内容与链路审计记录。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320040" y="6565392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安徽工业大学 | 数据库与数据设计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65392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3A66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系统实现与界面展示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66928" y="859536"/>
            <a:ext cx="7223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6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用真实页面说明系统已经形成完整实现，而不是概念设计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48640" y="1152144"/>
            <a:ext cx="1371600" cy="0"/>
          </a:xfrm>
          <a:prstGeom prst="line">
            <a:avLst/>
          </a:prstGeom>
          <a:noFill/>
          <a:ln w="12700">
            <a:solidFill>
              <a:srgbClr val="31B6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417320"/>
            <a:ext cx="5120640" cy="187452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D7E3F0"/>
            </a:solidFill>
            <a:prstDash val="solid"/>
          </a:ln>
        </p:spPr>
      </p:sp>
      <p:pic>
        <p:nvPicPr>
          <p:cNvPr id="6" name="Image 0" descr="D:\AgentLearning\chatBot\output\ppt\assets\fig5-2-cha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2932" y="1527048"/>
            <a:ext cx="2308352" cy="12984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383280" y="1581912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3A66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聊天中心页面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3383280" y="1892808"/>
            <a:ext cx="2148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负责主对话与实时语音状态展示。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6355080" y="1417320"/>
            <a:ext cx="5120640" cy="187452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D7E3F0"/>
            </a:solidFill>
            <a:prstDash val="solid"/>
          </a:ln>
        </p:spPr>
      </p:sp>
      <p:pic>
        <p:nvPicPr>
          <p:cNvPr id="10" name="Image 1" descr="D:\AgentLearning\chatBot\output\ppt\assets\fig5-5-provid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4808" y="1701931"/>
            <a:ext cx="2423160" cy="94868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9052560" y="1581912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3A66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厂商与模型管理</a:t>
            </a:r>
            <a:endParaRPr lang="en-US" sz="1250" dirty="0"/>
          </a:p>
        </p:txBody>
      </p:sp>
      <p:sp>
        <p:nvSpPr>
          <p:cNvPr id="12" name="Text 8"/>
          <p:cNvSpPr/>
          <p:nvPr/>
        </p:nvSpPr>
        <p:spPr>
          <a:xfrm>
            <a:off x="9052560" y="1892808"/>
            <a:ext cx="2148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负责模型服务配置与目录维护。</a:t>
            </a:r>
            <a:endParaRPr lang="en-US" sz="950" dirty="0"/>
          </a:p>
        </p:txBody>
      </p:sp>
      <p:sp>
        <p:nvSpPr>
          <p:cNvPr id="13" name="Shape 9"/>
          <p:cNvSpPr/>
          <p:nvPr/>
        </p:nvSpPr>
        <p:spPr>
          <a:xfrm>
            <a:off x="685800" y="3886200"/>
            <a:ext cx="5120640" cy="187452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D7E3F0"/>
            </a:solidFill>
            <a:prstDash val="solid"/>
          </a:ln>
        </p:spPr>
      </p:sp>
      <p:pic>
        <p:nvPicPr>
          <p:cNvPr id="14" name="Image 2" descr="D:\AgentLearning\chatBot\output\ppt\assets\fig5-6-knowledg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1647" y="3995928"/>
            <a:ext cx="1510921" cy="129844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383280" y="4050792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3A66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知识库管理页面</a:t>
            </a:r>
            <a:endParaRPr lang="en-US" sz="1250" dirty="0"/>
          </a:p>
        </p:txBody>
      </p:sp>
      <p:sp>
        <p:nvSpPr>
          <p:cNvPr id="16" name="Text 11"/>
          <p:cNvSpPr/>
          <p:nvPr/>
        </p:nvSpPr>
        <p:spPr>
          <a:xfrm>
            <a:off x="3383280" y="4361688"/>
            <a:ext cx="2148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负责文档上传、检索测试与参数维护。</a:t>
            </a:r>
            <a:endParaRPr lang="en-US" sz="950" dirty="0"/>
          </a:p>
        </p:txBody>
      </p:sp>
      <p:sp>
        <p:nvSpPr>
          <p:cNvPr id="17" name="Shape 12"/>
          <p:cNvSpPr/>
          <p:nvPr/>
        </p:nvSpPr>
        <p:spPr>
          <a:xfrm>
            <a:off x="6355080" y="3886200"/>
            <a:ext cx="5120640" cy="187452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D7E3F0"/>
            </a:solidFill>
            <a:prstDash val="solid"/>
          </a:ln>
        </p:spPr>
      </p:sp>
      <p:pic>
        <p:nvPicPr>
          <p:cNvPr id="18" name="Image 3" descr="D:\AgentLearning\chatBot\output\ppt\assets\fig5-8-voic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64808" y="4190810"/>
            <a:ext cx="2423160" cy="908685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9052560" y="4050792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3A66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音色管理页面</a:t>
            </a:r>
            <a:endParaRPr lang="en-US" sz="1250" dirty="0"/>
          </a:p>
        </p:txBody>
      </p:sp>
      <p:sp>
        <p:nvSpPr>
          <p:cNvPr id="20" name="Text 14"/>
          <p:cNvSpPr/>
          <p:nvPr/>
        </p:nvSpPr>
        <p:spPr>
          <a:xfrm>
            <a:off x="9052560" y="4361688"/>
            <a:ext cx="2148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负责样本上传、试听和音色克隆。</a:t>
            </a:r>
            <a:endParaRPr lang="en-US" sz="950" dirty="0"/>
          </a:p>
        </p:txBody>
      </p:sp>
      <p:sp>
        <p:nvSpPr>
          <p:cNvPr id="21" name="Text 15"/>
          <p:cNvSpPr/>
          <p:nvPr/>
        </p:nvSpPr>
        <p:spPr>
          <a:xfrm>
            <a:off x="320040" y="6565392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安徽工业大学 | 系统实现与界面展示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65392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3A66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系统测试与结果分析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66928" y="859536"/>
            <a:ext cx="7223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6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测试重点是功能闭环、链路差异和资料型问答效果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48640" y="1152144"/>
            <a:ext cx="1371600" cy="0"/>
          </a:xfrm>
          <a:prstGeom prst="line">
            <a:avLst/>
          </a:prstGeom>
          <a:noFill/>
          <a:ln w="12700">
            <a:solidFill>
              <a:srgbClr val="31B6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1417320"/>
            <a:ext cx="2240280" cy="484632"/>
          </a:xfrm>
          <a:prstGeom prst="rect">
            <a:avLst/>
          </a:prstGeom>
          <a:solidFill>
            <a:srgbClr val="0E3A66"/>
          </a:solidFill>
          <a:ln w="12700">
            <a:solidFill>
              <a:srgbClr val="C8D7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490472"/>
            <a:ext cx="209397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测试项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971800" y="1417320"/>
            <a:ext cx="6400800" cy="484632"/>
          </a:xfrm>
          <a:prstGeom prst="rect">
            <a:avLst/>
          </a:prstGeom>
          <a:solidFill>
            <a:srgbClr val="0E3A66"/>
          </a:solidFill>
          <a:ln w="12700">
            <a:solidFill>
              <a:srgbClr val="C8D7E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044952" y="1490472"/>
            <a:ext cx="625449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观察结果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9464040" y="1417320"/>
            <a:ext cx="1417320" cy="484632"/>
          </a:xfrm>
          <a:prstGeom prst="rect">
            <a:avLst/>
          </a:prstGeom>
          <a:solidFill>
            <a:srgbClr val="0E3A66"/>
          </a:solidFill>
          <a:ln w="12700">
            <a:solidFill>
              <a:srgbClr val="C8D7E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537192" y="1490472"/>
            <a:ext cx="127101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58368" y="1901952"/>
            <a:ext cx="2240280" cy="484632"/>
          </a:xfrm>
          <a:prstGeom prst="rect">
            <a:avLst/>
          </a:prstGeom>
          <a:solidFill>
            <a:srgbClr val="FFFFFF"/>
          </a:solidFill>
          <a:ln w="12700">
            <a:solidFill>
              <a:srgbClr val="C8D7E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1975104"/>
            <a:ext cx="209397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文本对话功能测试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971800" y="1901952"/>
            <a:ext cx="6400800" cy="484632"/>
          </a:xfrm>
          <a:prstGeom prst="rect">
            <a:avLst/>
          </a:prstGeom>
          <a:solidFill>
            <a:srgbClr val="FFFFFF"/>
          </a:solidFill>
          <a:ln w="12700">
            <a:solidFill>
              <a:srgbClr val="C8D7E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044952" y="1975104"/>
            <a:ext cx="625449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会话创建、消息保存和回复生成可以稳定完成。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9464040" y="1901952"/>
            <a:ext cx="1417320" cy="484632"/>
          </a:xfrm>
          <a:prstGeom prst="rect">
            <a:avLst/>
          </a:prstGeom>
          <a:solidFill>
            <a:srgbClr val="FFFFFF"/>
          </a:solidFill>
          <a:ln w="12700">
            <a:solidFill>
              <a:srgbClr val="C8D7E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537192" y="1975104"/>
            <a:ext cx="127101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58368" y="2386584"/>
            <a:ext cx="2240280" cy="484632"/>
          </a:xfrm>
          <a:prstGeom prst="rect">
            <a:avLst/>
          </a:prstGeom>
          <a:solidFill>
            <a:srgbClr val="FFFFFF"/>
          </a:solidFill>
          <a:ln w="12700">
            <a:solidFill>
              <a:srgbClr val="C8D7E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2459736"/>
            <a:ext cx="209397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实时通话链路测试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971800" y="2386584"/>
            <a:ext cx="6400800" cy="484632"/>
          </a:xfrm>
          <a:prstGeom prst="rect">
            <a:avLst/>
          </a:prstGeom>
          <a:solidFill>
            <a:srgbClr val="FFFFFF"/>
          </a:solidFill>
          <a:ln w="12700">
            <a:solidFill>
              <a:srgbClr val="C8D7E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044952" y="2459736"/>
            <a:ext cx="625449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支持持续传输、局部转写、播报和插话打断。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9464040" y="2386584"/>
            <a:ext cx="1417320" cy="484632"/>
          </a:xfrm>
          <a:prstGeom prst="rect">
            <a:avLst/>
          </a:prstGeom>
          <a:solidFill>
            <a:srgbClr val="FFFFFF"/>
          </a:solidFill>
          <a:ln w="12700">
            <a:solidFill>
              <a:srgbClr val="C8D7E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537192" y="2459736"/>
            <a:ext cx="127101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58368" y="2871216"/>
            <a:ext cx="2240280" cy="484632"/>
          </a:xfrm>
          <a:prstGeom prst="rect">
            <a:avLst/>
          </a:prstGeom>
          <a:solidFill>
            <a:srgbClr val="FFFFFF"/>
          </a:solidFill>
          <a:ln w="12700">
            <a:solidFill>
              <a:srgbClr val="C8D7E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" y="2944368"/>
            <a:ext cx="209397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知识库开启/关闭对比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971800" y="2871216"/>
            <a:ext cx="6400800" cy="484632"/>
          </a:xfrm>
          <a:prstGeom prst="rect">
            <a:avLst/>
          </a:prstGeom>
          <a:solidFill>
            <a:srgbClr val="FFFFFF"/>
          </a:solidFill>
          <a:ln w="12700">
            <a:solidFill>
              <a:srgbClr val="C8D7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044952" y="2944368"/>
            <a:ext cx="625449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资料型问答在开启知识库后更具体、更贴近文档。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464040" y="2871216"/>
            <a:ext cx="1417320" cy="484632"/>
          </a:xfrm>
          <a:prstGeom prst="rect">
            <a:avLst/>
          </a:prstGeom>
          <a:solidFill>
            <a:srgbClr val="FFFFFF"/>
          </a:solidFill>
          <a:ln w="12700">
            <a:solidFill>
              <a:srgbClr val="C8D7E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537192" y="2944368"/>
            <a:ext cx="127101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有效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58368" y="3355848"/>
            <a:ext cx="2240280" cy="484632"/>
          </a:xfrm>
          <a:prstGeom prst="rect">
            <a:avLst/>
          </a:prstGeom>
          <a:solidFill>
            <a:srgbClr val="FFFFFF"/>
          </a:solidFill>
          <a:ln w="12700">
            <a:solidFill>
              <a:srgbClr val="C8D7E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31520" y="3429000"/>
            <a:ext cx="209397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音色样本上传与异常处理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2971800" y="3355848"/>
            <a:ext cx="6400800" cy="484632"/>
          </a:xfrm>
          <a:prstGeom prst="rect">
            <a:avLst/>
          </a:prstGeom>
          <a:solidFill>
            <a:srgbClr val="FFFFFF"/>
          </a:solidFill>
          <a:ln w="12700">
            <a:solidFill>
              <a:srgbClr val="C8D7E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044952" y="3429000"/>
            <a:ext cx="625449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克隆成功路径与错误路径均有明确反馈。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9464040" y="3355848"/>
            <a:ext cx="1417320" cy="484632"/>
          </a:xfrm>
          <a:prstGeom prst="rect">
            <a:avLst/>
          </a:prstGeom>
          <a:solidFill>
            <a:srgbClr val="FFFFFF"/>
          </a:solidFill>
          <a:ln w="12700">
            <a:solidFill>
              <a:srgbClr val="C8D7E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537192" y="3429000"/>
            <a:ext cx="127101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731520" y="4160520"/>
            <a:ext cx="3566160" cy="1188720"/>
          </a:xfrm>
          <a:prstGeom prst="roundRect">
            <a:avLst>
              <a:gd name="adj" fmla="val 6154"/>
            </a:avLst>
          </a:prstGeom>
          <a:solidFill>
            <a:srgbClr val="F9FCFF"/>
          </a:solidFill>
          <a:ln w="12700">
            <a:solidFill>
              <a:srgbClr val="D7E3F0"/>
            </a:solidFill>
            <a:prstDash val="solid"/>
          </a:ln>
          <a:effectLst>
            <a:outerShdw sx="100000" sy="100000" kx="0" ky="0" algn="bl" rotWithShape="0" blurRad="12700" dist="50800" dir="2700000">
              <a:srgbClr val="9AA7B6">
                <a:alpha val="10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896112" y="4270248"/>
            <a:ext cx="32369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3A66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结论1 功能闭环验证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896112" y="4544568"/>
            <a:ext cx="323697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系统核心功能已完成闭环验证，说明主要设计目标已经落地。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4526280" y="4160520"/>
            <a:ext cx="3566160" cy="1188720"/>
          </a:xfrm>
          <a:prstGeom prst="roundRect">
            <a:avLst>
              <a:gd name="adj" fmla="val 6154"/>
            </a:avLst>
          </a:prstGeom>
          <a:solidFill>
            <a:srgbClr val="F9FCFF"/>
          </a:solidFill>
          <a:ln w="12700">
            <a:solidFill>
              <a:srgbClr val="D7E3F0"/>
            </a:solidFill>
            <a:prstDash val="solid"/>
          </a:ln>
          <a:effectLst>
            <a:outerShdw sx="100000" sy="100000" kx="0" ky="0" algn="bl" rotWithShape="0" blurRad="12700" dist="50800" dir="2700000">
              <a:srgbClr val="9AA7B6">
                <a:alpha val="10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4690872" y="4270248"/>
            <a:ext cx="32369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3A66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结论2 场景适配性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4690872" y="4544568"/>
            <a:ext cx="323697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双链路设计具备场景适配性，能够支撑不同交互需求下的方案选择。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8321040" y="4160520"/>
            <a:ext cx="3246120" cy="1188720"/>
          </a:xfrm>
          <a:prstGeom prst="roundRect">
            <a:avLst>
              <a:gd name="adj" fmla="val 6154"/>
            </a:avLst>
          </a:prstGeom>
          <a:solidFill>
            <a:srgbClr val="FFF8E8"/>
          </a:solidFill>
          <a:ln w="12700">
            <a:solidFill>
              <a:srgbClr val="D7E3F0"/>
            </a:solidFill>
            <a:prstDash val="solid"/>
          </a:ln>
          <a:effectLst>
            <a:outerShdw sx="100000" sy="100000" kx="0" ky="0" algn="bl" rotWithShape="0" blurRad="12700" dist="50800" dir="2700000">
              <a:srgbClr val="9AA7B6">
                <a:alpha val="10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8485632" y="4270248"/>
            <a:ext cx="29169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3A66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结论3 外部条件影响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8485632" y="4544568"/>
            <a:ext cx="291693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系统仍受网络环境、浏览器能力和模型服务稳定性影响。</a:t>
            </a:r>
            <a:endParaRPr lang="en-US" sz="1050" dirty="0"/>
          </a:p>
        </p:txBody>
      </p:sp>
      <p:pic>
        <p:nvPicPr>
          <p:cNvPr id="44" name="Image 0" descr="D:\AgentLearning\chatBot\output\ppt\assets\fig5-10-realtime-interrupt-sce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7890" y="5486400"/>
            <a:ext cx="2151461" cy="914400"/>
          </a:xfrm>
          <a:prstGeom prst="rect">
            <a:avLst/>
          </a:prstGeom>
        </p:spPr>
      </p:pic>
      <p:sp>
        <p:nvSpPr>
          <p:cNvPr id="45" name="Text 42"/>
          <p:cNvSpPr/>
          <p:nvPr/>
        </p:nvSpPr>
        <p:spPr>
          <a:xfrm>
            <a:off x="320040" y="6565392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安徽工业大学 | 系统测试与结果分析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65392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3A66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论文特色与设计亮点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66928" y="859536"/>
            <a:ext cx="7223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6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从论文视角归纳本课题的三项核心亮点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48640" y="1152144"/>
            <a:ext cx="1371600" cy="0"/>
          </a:xfrm>
          <a:prstGeom prst="line">
            <a:avLst/>
          </a:prstGeom>
          <a:noFill/>
          <a:ln w="12700">
            <a:solidFill>
              <a:srgbClr val="31B6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783080"/>
            <a:ext cx="3520440" cy="3200400"/>
          </a:xfrm>
          <a:prstGeom prst="roundRect">
            <a:avLst>
              <a:gd name="adj" fmla="val 2286"/>
            </a:avLst>
          </a:prstGeom>
          <a:solidFill>
            <a:srgbClr val="F7FBFF"/>
          </a:solidFill>
          <a:ln w="12700">
            <a:solidFill>
              <a:srgbClr val="D7E3F0"/>
            </a:solidFill>
            <a:prstDash val="solid"/>
          </a:ln>
          <a:effectLst>
            <a:outerShdw sx="100000" sy="100000" kx="0" ky="0" algn="bl" rotWithShape="0" blurRad="12700" dist="50800" dir="2700000">
              <a:srgbClr val="9AA7B6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96112" y="1892808"/>
            <a:ext cx="31912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3A66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统一会话运行时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96112" y="2167128"/>
            <a:ext cx="3191256" cy="2724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把文本对话、语音输入和实时语音通话纳入同一运行时，统一管理状态、消息流、转写文本和性能指标，从根源上减少多链路状态割裂问题。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343400" y="1783080"/>
            <a:ext cx="3520440" cy="3200400"/>
          </a:xfrm>
          <a:prstGeom prst="roundRect">
            <a:avLst>
              <a:gd name="adj" fmla="val 2286"/>
            </a:avLst>
          </a:prstGeom>
          <a:solidFill>
            <a:srgbClr val="F7FBFF"/>
          </a:solidFill>
          <a:ln w="12700">
            <a:solidFill>
              <a:srgbClr val="D7E3F0"/>
            </a:solidFill>
            <a:prstDash val="solid"/>
          </a:ln>
          <a:effectLst>
            <a:outerShdw sx="100000" sy="100000" kx="0" ky="0" algn="bl" rotWithShape="0" blurRad="12700" dist="50800" dir="2700000">
              <a:srgbClr val="9AA7B6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07992" y="1892808"/>
            <a:ext cx="31912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3A66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双语音链路设计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07992" y="2167128"/>
            <a:ext cx="3191256" cy="2724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同时保留分阶段链路与一体化实时链路，在可控性和实时性之间提供可切换的实现策略，适应不同测试和应用场景。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955280" y="1783080"/>
            <a:ext cx="3520440" cy="3200400"/>
          </a:xfrm>
          <a:prstGeom prst="roundRect">
            <a:avLst>
              <a:gd name="adj" fmla="val 2286"/>
            </a:avLst>
          </a:prstGeom>
          <a:solidFill>
            <a:srgbClr val="F7FBFF"/>
          </a:solidFill>
          <a:ln w="12700">
            <a:solidFill>
              <a:srgbClr val="D7E3F0"/>
            </a:solidFill>
            <a:prstDash val="solid"/>
          </a:ln>
          <a:effectLst>
            <a:outerShdw sx="100000" sy="100000" kx="0" ky="0" algn="bl" rotWithShape="0" blurRad="12700" dist="50800" dir="2700000">
              <a:srgbClr val="9AA7B6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119872" y="1892808"/>
            <a:ext cx="31912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3A66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知识与个性化闭环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119872" y="2167128"/>
            <a:ext cx="3191256" cy="2724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 RAG、记忆管理、人格配置和音色管理，把问答、知识、角色和语音风格组织成可扩展的完整系统能力。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914400" y="5486400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3A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一句话概括：本课题的价值在于将多模态交互、知识增强和配置能力统一到同一套可验证的系统设计之中。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20040" y="6565392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安徽工业大学 | 论文特色与设计亮点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65392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3A66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结论与展望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66928" y="859536"/>
            <a:ext cx="7223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6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完成了从架构、实现到测试的完整闭环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48640" y="1152144"/>
            <a:ext cx="1371600" cy="0"/>
          </a:xfrm>
          <a:prstGeom prst="line">
            <a:avLst/>
          </a:prstGeom>
          <a:noFill/>
          <a:ln w="12700">
            <a:solidFill>
              <a:srgbClr val="31B6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325880"/>
            <a:ext cx="1353312" cy="310896"/>
          </a:xfrm>
          <a:prstGeom prst="roundRect">
            <a:avLst>
              <a:gd name="adj" fmla="val 23529"/>
            </a:avLst>
          </a:prstGeom>
          <a:solidFill>
            <a:srgbClr val="EAF2FA"/>
          </a:solidFill>
          <a:ln w="12700">
            <a:solidFill>
              <a:srgbClr val="EAF2F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353312"/>
            <a:ext cx="1353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6F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822960" y="1783080"/>
            <a:ext cx="5166360" cy="2926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194310" indent="-194310"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已实现一个支持文本、语音输入、实时语音通话和知识增强的多模态智能语音聊天机器人系统。</a:t>
            </a:r>
            <a:endParaRPr lang="en-US" sz="1700" dirty="0"/>
          </a:p>
          <a:p>
            <a:pPr marL="194310" indent="-194310"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论文围绕统一会话运行时、双语音链路和RAG知识增强完成了系统设计与实现目标。</a:t>
            </a:r>
            <a:endParaRPr lang="en-US" sz="1700" dirty="0"/>
          </a:p>
          <a:p>
            <a:pPr marL="194310" indent="-194310"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通过真实页面、测试用例和链路验证，说明系统具备较好的可实现性、可验证性和工程可控性。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400800" y="1325880"/>
            <a:ext cx="1353312" cy="310896"/>
          </a:xfrm>
          <a:prstGeom prst="roundRect">
            <a:avLst>
              <a:gd name="adj" fmla="val 23529"/>
            </a:avLst>
          </a:prstGeom>
          <a:solidFill>
            <a:srgbClr val="EEF8F8"/>
          </a:solidFill>
          <a:ln w="12700">
            <a:solidFill>
              <a:srgbClr val="EEF8F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0" y="1353312"/>
            <a:ext cx="1353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6F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展望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400800" y="1783080"/>
            <a:ext cx="475488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7E3F0"/>
            </a:solidFill>
            <a:prstDash val="solid"/>
          </a:ln>
          <a:effectLst>
            <a:outerShdw sx="100000" sy="100000" kx="0" ky="0" algn="bl" rotWithShape="0" blurRad="12700" dist="50800" dir="2700000">
              <a:srgbClr val="9AA7B6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565392" y="1892808"/>
            <a:ext cx="4425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3A66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方向1 识别稳定性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565392" y="2167128"/>
            <a:ext cx="44256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进一步优化复杂噪声环境下的语音识别鲁棒性。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400800" y="2743200"/>
            <a:ext cx="475488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7E3F0"/>
            </a:solidFill>
            <a:prstDash val="solid"/>
          </a:ln>
          <a:effectLst>
            <a:outerShdw sx="100000" sy="100000" kx="0" ky="0" algn="bl" rotWithShape="0" blurRad="12700" dist="50800" dir="2700000">
              <a:srgbClr val="9AA7B6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565392" y="2852928"/>
            <a:ext cx="4425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3A66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方向2 长时对话能力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565392" y="3127248"/>
            <a:ext cx="44256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增强长期记忆召回与多轮调度策略，提高连续对话一致性。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400800" y="3703320"/>
            <a:ext cx="475488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7E3F0"/>
            </a:solidFill>
            <a:prstDash val="solid"/>
          </a:ln>
          <a:effectLst>
            <a:outerShdw sx="100000" sy="100000" kx="0" ky="0" algn="bl" rotWithShape="0" blurRad="12700" dist="50800" dir="2700000">
              <a:srgbClr val="9AA7B6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565392" y="3813048"/>
            <a:ext cx="4425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3A66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方向3 多模态扩展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565392" y="4087368"/>
            <a:ext cx="44256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拓展图像理解或更丰富的多模态输入输出能力。</a:t>
            </a:r>
            <a:endParaRPr lang="en-US" sz="1050" dirty="0"/>
          </a:p>
        </p:txBody>
      </p:sp>
      <p:pic>
        <p:nvPicPr>
          <p:cNvPr id="19" name="Image 0" descr="D:\AgentLearning\chatBot\output\ppt\assets\fig5-10-realtime-interrupt-sce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02157" y="4800600"/>
            <a:ext cx="2689326" cy="1143000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320040" y="6565392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安徽工业大学 | 结论与展望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65392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81B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AgentLearning\chatBot\output\ppt\assets\thanks-bg-ai.png">    </p:cNvPr>
          <p:cNvPicPr>
            <a:picLocks noChangeAspect="1"/>
          </p:cNvPicPr>
          <p:nvPr/>
        </p:nvPicPr>
        <p:blipFill>
          <a:blip r:embed="rId1"/>
          <a:srcRect l="0" r="0"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B34">
              <a:alpha val="78000"/>
            </a:srgbClr>
          </a:solidFill>
          <a:ln w="12700">
            <a:solidFill>
              <a:srgbClr val="081B34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1828800" y="2057400"/>
            <a:ext cx="8503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感谢各位老师聆听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1920240" y="2926080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CEA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恳请各位老师批评指正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4297680" y="3703320"/>
            <a:ext cx="3566160" cy="0"/>
          </a:xfrm>
          <a:prstGeom prst="line">
            <a:avLst/>
          </a:prstGeom>
          <a:noFill/>
          <a:ln w="12700">
            <a:solidFill>
              <a:srgbClr val="59C0E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834640" y="3977640"/>
            <a:ext cx="6492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DCEA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智能语音聊天机器人设计与实现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安徽工业大学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智能语音聊天机器人设计与实现</dc:title>
  <dc:subject>智能语音聊天机器人设计与实现毕业答辩</dc:subject>
  <dc:creator>OpenAI Codex</dc:creator>
  <cp:lastModifiedBy>OpenAI Codex</cp:lastModifiedBy>
  <cp:revision>1</cp:revision>
  <dcterms:created xsi:type="dcterms:W3CDTF">2026-05-17T14:48:10Z</dcterms:created>
  <dcterms:modified xsi:type="dcterms:W3CDTF">2026-05-17T14:48:10Z</dcterms:modified>
</cp:coreProperties>
</file>